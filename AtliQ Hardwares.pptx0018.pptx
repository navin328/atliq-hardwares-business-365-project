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7" r:id="rId8"/>
    <p:sldId id="268" r:id="rId9"/>
    <p:sldId id="262" r:id="rId10"/>
    <p:sldId id="264" r:id="rId11"/>
    <p:sldId id="269" r:id="rId12"/>
    <p:sldId id="265" r:id="rId13"/>
    <p:sldId id="266" r:id="rId14"/>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nva Sans" panose="020B0604020202020204" charset="0"/>
      <p:regular r:id="rId20"/>
    </p:embeddedFont>
    <p:embeddedFont>
      <p:font typeface="Canva Sans Bold" panose="020B0604020202020204" charset="0"/>
      <p:regular r:id="rId21"/>
    </p:embeddedFont>
    <p:embeddedFont>
      <p:font typeface="League Spartan"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1B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020" autoAdjust="0"/>
  </p:normalViewPr>
  <p:slideViewPr>
    <p:cSldViewPr>
      <p:cViewPr varScale="1">
        <p:scale>
          <a:sx n="52" d="100"/>
          <a:sy n="52" d="100"/>
        </p:scale>
        <p:origin x="216"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56E78F-AC48-4B00-8EE3-43E3C522010C}"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77A82D-313F-483E-9094-C5834746502E}" type="slidenum">
              <a:rPr lang="en-IN" smtClean="0"/>
              <a:t>‹#›</a:t>
            </a:fld>
            <a:endParaRPr lang="en-IN"/>
          </a:p>
        </p:txBody>
      </p:sp>
    </p:spTree>
    <p:extLst>
      <p:ext uri="{BB962C8B-B14F-4D97-AF65-F5344CB8AC3E}">
        <p14:creationId xmlns:p14="http://schemas.microsoft.com/office/powerpoint/2010/main" val="1946688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77A82D-313F-483E-9094-C5834746502E}" type="slidenum">
              <a:rPr lang="en-IN" smtClean="0"/>
              <a:t>1</a:t>
            </a:fld>
            <a:endParaRPr lang="en-IN"/>
          </a:p>
        </p:txBody>
      </p:sp>
    </p:spTree>
    <p:extLst>
      <p:ext uri="{BB962C8B-B14F-4D97-AF65-F5344CB8AC3E}">
        <p14:creationId xmlns:p14="http://schemas.microsoft.com/office/powerpoint/2010/main" val="908873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77A82D-313F-483E-9094-C5834746502E}" type="slidenum">
              <a:rPr lang="en-IN" smtClean="0"/>
              <a:t>2</a:t>
            </a:fld>
            <a:endParaRPr lang="en-IN"/>
          </a:p>
        </p:txBody>
      </p:sp>
    </p:spTree>
    <p:extLst>
      <p:ext uri="{BB962C8B-B14F-4D97-AF65-F5344CB8AC3E}">
        <p14:creationId xmlns:p14="http://schemas.microsoft.com/office/powerpoint/2010/main" val="631559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77A82D-313F-483E-9094-C5834746502E}" type="slidenum">
              <a:rPr lang="en-IN" smtClean="0"/>
              <a:t>3</a:t>
            </a:fld>
            <a:endParaRPr lang="en-IN"/>
          </a:p>
        </p:txBody>
      </p:sp>
    </p:spTree>
    <p:extLst>
      <p:ext uri="{BB962C8B-B14F-4D97-AF65-F5344CB8AC3E}">
        <p14:creationId xmlns:p14="http://schemas.microsoft.com/office/powerpoint/2010/main" val="934488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rgbClr val="3E1B59"/>
            </a:gs>
            <a:gs pos="100000">
              <a:schemeClr val="accent1">
                <a:lumMod val="45000"/>
                <a:lumOff val="55000"/>
              </a:schemeClr>
            </a:gs>
            <a:gs pos="100000">
              <a:schemeClr val="accent4">
                <a:lumMod val="75000"/>
              </a:schemeClr>
            </a:gs>
            <a:gs pos="100000">
              <a:srgbClr val="7030A0"/>
            </a:gs>
          </a:gsLst>
          <a:lin ang="5400000" scaled="1"/>
        </a:gra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C8B6A0B-C8BD-AFD3-856A-8FC12ED71D8D}"/>
              </a:ext>
            </a:extLst>
          </p:cNvPr>
          <p:cNvSpPr/>
          <p:nvPr/>
        </p:nvSpPr>
        <p:spPr>
          <a:xfrm>
            <a:off x="228600" y="325597"/>
            <a:ext cx="17830800" cy="25146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reeform 2"/>
          <p:cNvSpPr/>
          <p:nvPr/>
        </p:nvSpPr>
        <p:spPr>
          <a:xfrm rot="5400000" flipH="1">
            <a:off x="13216124" y="-930244"/>
            <a:ext cx="4955573" cy="6935280"/>
          </a:xfrm>
          <a:custGeom>
            <a:avLst/>
            <a:gdLst/>
            <a:ahLst/>
            <a:cxnLst/>
            <a:rect l="l" t="t" r="r" b="b"/>
            <a:pathLst>
              <a:path w="4955573" h="6935280">
                <a:moveTo>
                  <a:pt x="4955573" y="0"/>
                </a:moveTo>
                <a:lnTo>
                  <a:pt x="0" y="0"/>
                </a:lnTo>
                <a:lnTo>
                  <a:pt x="0" y="6935281"/>
                </a:lnTo>
                <a:lnTo>
                  <a:pt x="4955573" y="6935281"/>
                </a:lnTo>
                <a:lnTo>
                  <a:pt x="4955573"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4305300" y="1009901"/>
            <a:ext cx="9677400" cy="1260794"/>
          </a:xfrm>
          <a:prstGeom prst="rect">
            <a:avLst/>
          </a:prstGeom>
        </p:spPr>
        <p:txBody>
          <a:bodyPr wrap="square" lIns="0" tIns="0" rIns="0" bIns="0" rtlCol="0" anchor="t">
            <a:spAutoFit/>
          </a:bodyPr>
          <a:lstStyle/>
          <a:p>
            <a:pPr algn="ctr">
              <a:lnSpc>
                <a:spcPts val="9649"/>
              </a:lnSpc>
            </a:pPr>
            <a:r>
              <a:rPr lang="en-US" sz="7200" dirty="0" err="1">
                <a:latin typeface="League Spartan"/>
                <a:ea typeface="League Spartan"/>
                <a:cs typeface="League Spartan"/>
                <a:sym typeface="League Spartan"/>
              </a:rPr>
              <a:t>AtliQ</a:t>
            </a:r>
            <a:r>
              <a:rPr lang="en-US" sz="7200" dirty="0">
                <a:latin typeface="League Spartan"/>
                <a:ea typeface="League Spartan"/>
                <a:cs typeface="League Spartan"/>
                <a:sym typeface="League Spartan"/>
              </a:rPr>
              <a:t> Hardware</a:t>
            </a:r>
          </a:p>
        </p:txBody>
      </p:sp>
      <p:sp>
        <p:nvSpPr>
          <p:cNvPr id="4" name="TextBox 4"/>
          <p:cNvSpPr txBox="1"/>
          <p:nvPr/>
        </p:nvSpPr>
        <p:spPr>
          <a:xfrm>
            <a:off x="9906000" y="3658413"/>
            <a:ext cx="6400801" cy="5940152"/>
          </a:xfrm>
          <a:prstGeom prst="rect">
            <a:avLst/>
          </a:prstGeom>
        </p:spPr>
        <p:txBody>
          <a:bodyPr wrap="square" lIns="0" tIns="0" rIns="0" bIns="0" rtlCol="0" anchor="t">
            <a:spAutoFit/>
          </a:bodyPr>
          <a:lstStyle/>
          <a:p>
            <a:pPr marL="602601" lvl="1" indent="-301300" algn="just">
              <a:lnSpc>
                <a:spcPts val="3907"/>
              </a:lnSpc>
              <a:buFont typeface="Arial"/>
              <a:buChar char="•"/>
            </a:pPr>
            <a:r>
              <a:rPr lang="en-US" sz="2000" b="1" spc="139" dirty="0" err="1">
                <a:solidFill>
                  <a:srgbClr val="FBFAFF"/>
                </a:solidFill>
                <a:latin typeface="Canva Sans Bold"/>
                <a:ea typeface="Canva Sans Bold"/>
                <a:cs typeface="Canva Sans Bold"/>
                <a:sym typeface="Canva Sans Bold"/>
              </a:rPr>
              <a:t>AtliQ</a:t>
            </a:r>
            <a:r>
              <a:rPr lang="en-US" sz="2000" b="1" spc="139" dirty="0">
                <a:solidFill>
                  <a:srgbClr val="FBFAFF"/>
                </a:solidFill>
                <a:latin typeface="Canva Sans Bold"/>
                <a:ea typeface="Canva Sans Bold"/>
                <a:cs typeface="Canva Sans Bold"/>
                <a:sym typeface="Canva Sans Bold"/>
              </a:rPr>
              <a:t> </a:t>
            </a:r>
            <a:r>
              <a:rPr lang="en-US" sz="2000" b="1" spc="139" dirty="0" err="1">
                <a:solidFill>
                  <a:srgbClr val="FBFAFF"/>
                </a:solidFill>
                <a:latin typeface="Canva Sans Bold"/>
                <a:ea typeface="Canva Sans Bold"/>
                <a:cs typeface="Canva Sans Bold"/>
                <a:sym typeface="Canva Sans Bold"/>
              </a:rPr>
              <a:t>Hardwares</a:t>
            </a:r>
            <a:r>
              <a:rPr lang="en-US" sz="2000" b="1" spc="139" dirty="0">
                <a:solidFill>
                  <a:srgbClr val="FBFAFF"/>
                </a:solidFill>
                <a:latin typeface="Canva Sans Bold"/>
                <a:ea typeface="Canva Sans Bold"/>
                <a:cs typeface="Canva Sans Bold"/>
                <a:sym typeface="Canva Sans Bold"/>
              </a:rPr>
              <a:t> is a rapidly growing consumer electronics company operating across multiple countries. The company offers a wide range of hardware products catering to both individual consumers and enterprise clients. With its strong global presence and expanding market share, </a:t>
            </a:r>
            <a:r>
              <a:rPr lang="en-US" sz="2000" b="1" spc="139" dirty="0" err="1">
                <a:solidFill>
                  <a:srgbClr val="FBFAFF"/>
                </a:solidFill>
                <a:latin typeface="Canva Sans Bold"/>
                <a:ea typeface="Canva Sans Bold"/>
                <a:cs typeface="Canva Sans Bold"/>
                <a:sym typeface="Canva Sans Bold"/>
              </a:rPr>
              <a:t>AtliQ</a:t>
            </a:r>
            <a:r>
              <a:rPr lang="en-US" sz="2000" b="1" spc="139" dirty="0">
                <a:solidFill>
                  <a:srgbClr val="FBFAFF"/>
                </a:solidFill>
                <a:latin typeface="Canva Sans Bold"/>
                <a:ea typeface="Canva Sans Bold"/>
                <a:cs typeface="Canva Sans Bold"/>
                <a:sym typeface="Canva Sans Bold"/>
              </a:rPr>
              <a:t> aims to strengthen its decision-making process through data-driven strategies to maintain its competitive edge.</a:t>
            </a:r>
          </a:p>
          <a:p>
            <a:pPr marL="0" lvl="0" indent="0" algn="l">
              <a:lnSpc>
                <a:spcPts val="3594"/>
              </a:lnSpc>
            </a:pPr>
            <a:endParaRPr lang="en-US" sz="2791" b="1" spc="139" dirty="0">
              <a:solidFill>
                <a:srgbClr val="FBFAFF"/>
              </a:solidFill>
              <a:latin typeface="Canva Sans Bold"/>
              <a:ea typeface="Canva Sans Bold"/>
              <a:cs typeface="Canva Sans Bold"/>
              <a:sym typeface="Canva Sans Bold"/>
            </a:endParaRPr>
          </a:p>
        </p:txBody>
      </p:sp>
      <p:sp>
        <p:nvSpPr>
          <p:cNvPr id="7" name="TextBox 7"/>
          <p:cNvSpPr txBox="1"/>
          <p:nvPr/>
        </p:nvSpPr>
        <p:spPr>
          <a:xfrm>
            <a:off x="-430443" y="10168067"/>
            <a:ext cx="19315313" cy="787081"/>
          </a:xfrm>
          <a:prstGeom prst="rect">
            <a:avLst/>
          </a:prstGeom>
        </p:spPr>
        <p:txBody>
          <a:bodyPr lIns="50800" tIns="50800" rIns="50800" bIns="50800" rtlCol="0" anchor="ctr"/>
          <a:lstStyle/>
          <a:p>
            <a:pPr algn="ctr">
              <a:lnSpc>
                <a:spcPts val="2640"/>
              </a:lnSpc>
            </a:pPr>
            <a:endParaRPr/>
          </a:p>
        </p:txBody>
      </p:sp>
      <p:pic>
        <p:nvPicPr>
          <p:cNvPr id="9" name="Picture 8">
            <a:extLst>
              <a:ext uri="{FF2B5EF4-FFF2-40B4-BE49-F238E27FC236}">
                <a16:creationId xmlns:a16="http://schemas.microsoft.com/office/drawing/2014/main" id="{0377DB39-75C6-570A-E13D-9DDF54BFBB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430" y="382998"/>
            <a:ext cx="2837545" cy="2514599"/>
          </a:xfrm>
          <a:prstGeom prst="rect">
            <a:avLst/>
          </a:prstGeom>
        </p:spPr>
      </p:pic>
      <p:pic>
        <p:nvPicPr>
          <p:cNvPr id="17" name="Picture 16">
            <a:extLst>
              <a:ext uri="{FF2B5EF4-FFF2-40B4-BE49-F238E27FC236}">
                <a16:creationId xmlns:a16="http://schemas.microsoft.com/office/drawing/2014/main" id="{150F93DF-DC80-63A4-80A7-CBB306BE69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95600" y="3000929"/>
            <a:ext cx="12344399" cy="7006405"/>
          </a:xfrm>
          <a:prstGeom prst="rect">
            <a:avLst/>
          </a:prstGeom>
        </p:spPr>
      </p:pic>
      <p:sp>
        <p:nvSpPr>
          <p:cNvPr id="6" name="Freeform 11">
            <a:extLst>
              <a:ext uri="{FF2B5EF4-FFF2-40B4-BE49-F238E27FC236}">
                <a16:creationId xmlns:a16="http://schemas.microsoft.com/office/drawing/2014/main" id="{A1886AD9-6AD3-407C-9F76-D597F65A88BB}"/>
              </a:ext>
            </a:extLst>
          </p:cNvPr>
          <p:cNvSpPr/>
          <p:nvPr/>
        </p:nvSpPr>
        <p:spPr>
          <a:xfrm>
            <a:off x="1514329" y="4000500"/>
            <a:ext cx="2134523" cy="1408241"/>
          </a:xfrm>
          <a:custGeom>
            <a:avLst/>
            <a:gdLst/>
            <a:ahLst/>
            <a:cxnLst/>
            <a:rect l="l" t="t" r="r" b="b"/>
            <a:pathLst>
              <a:path w="5751532" h="4155482">
                <a:moveTo>
                  <a:pt x="0" y="0"/>
                </a:moveTo>
                <a:lnTo>
                  <a:pt x="5751532" y="0"/>
                </a:lnTo>
                <a:lnTo>
                  <a:pt x="5751532" y="4155482"/>
                </a:lnTo>
                <a:lnTo>
                  <a:pt x="0" y="4155482"/>
                </a:lnTo>
                <a:lnTo>
                  <a:pt x="0" y="0"/>
                </a:lnTo>
                <a:close/>
              </a:path>
            </a:pathLst>
          </a:custGeom>
          <a:blipFill>
            <a:blip r:embed="rId7"/>
            <a:stretch>
              <a:fillRect/>
            </a:stretch>
          </a:blipFill>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grpSp>
        <p:nvGrpSpPr>
          <p:cNvPr id="2" name="Group 2"/>
          <p:cNvGrpSpPr/>
          <p:nvPr/>
        </p:nvGrpSpPr>
        <p:grpSpPr>
          <a:xfrm>
            <a:off x="8888570" y="-59385"/>
            <a:ext cx="9399430" cy="10346386"/>
            <a:chOff x="0" y="0"/>
            <a:chExt cx="2539768" cy="2795176"/>
          </a:xfrm>
        </p:grpSpPr>
        <p:sp>
          <p:nvSpPr>
            <p:cNvPr id="3" name="Freeform 3"/>
            <p:cNvSpPr/>
            <p:nvPr/>
          </p:nvSpPr>
          <p:spPr>
            <a:xfrm>
              <a:off x="0" y="0"/>
              <a:ext cx="2539768" cy="2795176"/>
            </a:xfrm>
            <a:custGeom>
              <a:avLst/>
              <a:gdLst/>
              <a:ahLst/>
              <a:cxnLst/>
              <a:rect l="l" t="t" r="r" b="b"/>
              <a:pathLst>
                <a:path w="2539768" h="2795176">
                  <a:moveTo>
                    <a:pt x="0" y="0"/>
                  </a:moveTo>
                  <a:lnTo>
                    <a:pt x="2539768" y="0"/>
                  </a:lnTo>
                  <a:lnTo>
                    <a:pt x="2539768" y="2795176"/>
                  </a:lnTo>
                  <a:lnTo>
                    <a:pt x="0" y="2795176"/>
                  </a:lnTo>
                  <a:close/>
                </a:path>
              </a:pathLst>
            </a:custGeom>
            <a:solidFill>
              <a:srgbClr val="3C096C"/>
            </a:solidFill>
          </p:spPr>
        </p:sp>
        <p:sp>
          <p:nvSpPr>
            <p:cNvPr id="4" name="TextBox 4"/>
            <p:cNvSpPr txBox="1"/>
            <p:nvPr/>
          </p:nvSpPr>
          <p:spPr>
            <a:xfrm>
              <a:off x="0" y="19050"/>
              <a:ext cx="2539768" cy="2776126"/>
            </a:xfrm>
            <a:prstGeom prst="rect">
              <a:avLst/>
            </a:prstGeom>
          </p:spPr>
          <p:txBody>
            <a:bodyPr lIns="50800" tIns="50800" rIns="50800" bIns="50800" rtlCol="0" anchor="ctr"/>
            <a:lstStyle/>
            <a:p>
              <a:pPr algn="ctr">
                <a:lnSpc>
                  <a:spcPts val="2640"/>
                </a:lnSpc>
              </a:pPr>
              <a:endParaRPr/>
            </a:p>
          </p:txBody>
        </p:sp>
      </p:grpSp>
      <p:sp>
        <p:nvSpPr>
          <p:cNvPr id="5" name="AutoShape 5"/>
          <p:cNvSpPr/>
          <p:nvPr/>
        </p:nvSpPr>
        <p:spPr>
          <a:xfrm flipV="1">
            <a:off x="1058811" y="5493259"/>
            <a:ext cx="0" cy="2166694"/>
          </a:xfrm>
          <a:prstGeom prst="line">
            <a:avLst/>
          </a:prstGeom>
          <a:ln w="19050" cap="rnd">
            <a:solidFill>
              <a:srgbClr val="F72585"/>
            </a:solidFill>
            <a:prstDash val="solid"/>
            <a:headEnd type="none" w="sm" len="sm"/>
            <a:tailEnd type="none" w="sm" len="sm"/>
          </a:ln>
        </p:spPr>
      </p:sp>
      <p:sp>
        <p:nvSpPr>
          <p:cNvPr id="6" name="AutoShape 6"/>
          <p:cNvSpPr/>
          <p:nvPr/>
        </p:nvSpPr>
        <p:spPr>
          <a:xfrm flipH="1" flipV="1">
            <a:off x="1049427" y="2807419"/>
            <a:ext cx="9384" cy="2213395"/>
          </a:xfrm>
          <a:prstGeom prst="line">
            <a:avLst/>
          </a:prstGeom>
          <a:ln w="19050" cap="rnd">
            <a:solidFill>
              <a:srgbClr val="F72585"/>
            </a:solidFill>
            <a:prstDash val="solid"/>
            <a:headEnd type="none" w="sm" len="sm"/>
            <a:tailEnd type="none" w="sm" len="sm"/>
          </a:ln>
        </p:spPr>
      </p:sp>
      <p:sp>
        <p:nvSpPr>
          <p:cNvPr id="7" name="AutoShape 7"/>
          <p:cNvSpPr/>
          <p:nvPr/>
        </p:nvSpPr>
        <p:spPr>
          <a:xfrm flipV="1">
            <a:off x="1058812" y="8238637"/>
            <a:ext cx="29344" cy="1457289"/>
          </a:xfrm>
          <a:prstGeom prst="line">
            <a:avLst/>
          </a:prstGeom>
          <a:ln w="19050" cap="rnd">
            <a:solidFill>
              <a:srgbClr val="F72585"/>
            </a:solidFill>
            <a:prstDash val="solid"/>
            <a:headEnd type="none" w="sm" len="sm"/>
            <a:tailEnd type="none" w="sm" len="sm"/>
          </a:ln>
        </p:spPr>
        <p:txBody>
          <a:bodyPr/>
          <a:lstStyle/>
          <a:p>
            <a:endParaRPr lang="en-IN" dirty="0"/>
          </a:p>
        </p:txBody>
      </p:sp>
      <p:grpSp>
        <p:nvGrpSpPr>
          <p:cNvPr id="8" name="Group 8"/>
          <p:cNvGrpSpPr/>
          <p:nvPr/>
        </p:nvGrpSpPr>
        <p:grpSpPr>
          <a:xfrm>
            <a:off x="10588437" y="7039281"/>
            <a:ext cx="1323429" cy="132342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9804"/>
              </a:srgbClr>
            </a:solidFill>
          </p:spPr>
        </p:sp>
        <p:sp>
          <p:nvSpPr>
            <p:cNvPr id="10" name="TextBox 10"/>
            <p:cNvSpPr txBox="1"/>
            <p:nvPr/>
          </p:nvSpPr>
          <p:spPr>
            <a:xfrm>
              <a:off x="76200" y="114300"/>
              <a:ext cx="660400" cy="622300"/>
            </a:xfrm>
            <a:prstGeom prst="rect">
              <a:avLst/>
            </a:prstGeom>
          </p:spPr>
          <p:txBody>
            <a:bodyPr lIns="50800" tIns="50800" rIns="50800" bIns="50800" rtlCol="0" anchor="ctr"/>
            <a:lstStyle/>
            <a:p>
              <a:pPr algn="ctr">
                <a:lnSpc>
                  <a:spcPts val="1800"/>
                </a:lnSpc>
              </a:pPr>
              <a:endParaRPr/>
            </a:p>
          </p:txBody>
        </p:sp>
      </p:grpSp>
      <p:grpSp>
        <p:nvGrpSpPr>
          <p:cNvPr id="11" name="Group 11"/>
          <p:cNvGrpSpPr/>
          <p:nvPr/>
        </p:nvGrpSpPr>
        <p:grpSpPr>
          <a:xfrm>
            <a:off x="15666921" y="7039281"/>
            <a:ext cx="1323429" cy="132342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9804"/>
              </a:srgbClr>
            </a:solidFill>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1800"/>
                </a:lnSpc>
              </a:pPr>
              <a:endParaRPr/>
            </a:p>
          </p:txBody>
        </p:sp>
      </p:grpSp>
      <p:grpSp>
        <p:nvGrpSpPr>
          <p:cNvPr id="14" name="Group 14"/>
          <p:cNvGrpSpPr/>
          <p:nvPr/>
        </p:nvGrpSpPr>
        <p:grpSpPr>
          <a:xfrm>
            <a:off x="10588437" y="1955165"/>
            <a:ext cx="1323429" cy="132342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9804"/>
              </a:srgbClr>
            </a:solidFill>
          </p:spPr>
        </p:sp>
        <p:sp>
          <p:nvSpPr>
            <p:cNvPr id="16" name="TextBox 16"/>
            <p:cNvSpPr txBox="1"/>
            <p:nvPr/>
          </p:nvSpPr>
          <p:spPr>
            <a:xfrm>
              <a:off x="76200" y="114300"/>
              <a:ext cx="660400" cy="622300"/>
            </a:xfrm>
            <a:prstGeom prst="rect">
              <a:avLst/>
            </a:prstGeom>
          </p:spPr>
          <p:txBody>
            <a:bodyPr lIns="50800" tIns="50800" rIns="50800" bIns="50800" rtlCol="0" anchor="ctr"/>
            <a:lstStyle/>
            <a:p>
              <a:pPr algn="ctr">
                <a:lnSpc>
                  <a:spcPts val="1800"/>
                </a:lnSpc>
              </a:pPr>
              <a:endParaRPr/>
            </a:p>
          </p:txBody>
        </p:sp>
      </p:grpSp>
      <p:grpSp>
        <p:nvGrpSpPr>
          <p:cNvPr id="17" name="Group 17"/>
          <p:cNvGrpSpPr/>
          <p:nvPr/>
        </p:nvGrpSpPr>
        <p:grpSpPr>
          <a:xfrm>
            <a:off x="15666921" y="1955165"/>
            <a:ext cx="1323429" cy="132342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9804"/>
              </a:srgbClr>
            </a:solidFill>
          </p:spPr>
        </p:sp>
        <p:sp>
          <p:nvSpPr>
            <p:cNvPr id="19" name="TextBox 19"/>
            <p:cNvSpPr txBox="1"/>
            <p:nvPr/>
          </p:nvSpPr>
          <p:spPr>
            <a:xfrm>
              <a:off x="76200" y="114300"/>
              <a:ext cx="660400" cy="622300"/>
            </a:xfrm>
            <a:prstGeom prst="rect">
              <a:avLst/>
            </a:prstGeom>
          </p:spPr>
          <p:txBody>
            <a:bodyPr lIns="50800" tIns="50800" rIns="50800" bIns="50800" rtlCol="0" anchor="ctr"/>
            <a:lstStyle/>
            <a:p>
              <a:pPr algn="ctr">
                <a:lnSpc>
                  <a:spcPts val="1800"/>
                </a:lnSpc>
              </a:pPr>
              <a:endParaRPr/>
            </a:p>
          </p:txBody>
        </p:sp>
      </p:grpSp>
      <p:sp>
        <p:nvSpPr>
          <p:cNvPr id="20" name="TextBox 20"/>
          <p:cNvSpPr txBox="1"/>
          <p:nvPr/>
        </p:nvSpPr>
        <p:spPr>
          <a:xfrm>
            <a:off x="554326" y="1045210"/>
            <a:ext cx="7859870" cy="909955"/>
          </a:xfrm>
          <a:prstGeom prst="rect">
            <a:avLst/>
          </a:prstGeom>
        </p:spPr>
        <p:txBody>
          <a:bodyPr lIns="0" tIns="0" rIns="0" bIns="0" rtlCol="0" anchor="t">
            <a:spAutoFit/>
          </a:bodyPr>
          <a:lstStyle/>
          <a:p>
            <a:pPr algn="l">
              <a:lnSpc>
                <a:spcPts val="7039"/>
              </a:lnSpc>
            </a:pPr>
            <a:r>
              <a:rPr lang="en-US" sz="6399" dirty="0">
                <a:solidFill>
                  <a:srgbClr val="17022B"/>
                </a:solidFill>
                <a:latin typeface="League Spartan"/>
                <a:ea typeface="League Spartan"/>
                <a:cs typeface="League Spartan"/>
                <a:sym typeface="League Spartan"/>
              </a:rPr>
              <a:t>Problem </a:t>
            </a:r>
            <a:r>
              <a:rPr lang="en-US" sz="6399" dirty="0" err="1">
                <a:solidFill>
                  <a:srgbClr val="17022B"/>
                </a:solidFill>
                <a:latin typeface="League Spartan"/>
                <a:ea typeface="League Spartan"/>
                <a:cs typeface="League Spartan"/>
                <a:sym typeface="League Spartan"/>
              </a:rPr>
              <a:t>Statment</a:t>
            </a:r>
            <a:endParaRPr lang="en-US" sz="6399" dirty="0">
              <a:solidFill>
                <a:srgbClr val="17022B"/>
              </a:solidFill>
              <a:latin typeface="League Spartan"/>
              <a:ea typeface="League Spartan"/>
              <a:cs typeface="League Spartan"/>
              <a:sym typeface="League Spartan"/>
            </a:endParaRPr>
          </a:p>
        </p:txBody>
      </p:sp>
      <p:sp>
        <p:nvSpPr>
          <p:cNvPr id="21" name="TextBox 21"/>
          <p:cNvSpPr txBox="1"/>
          <p:nvPr/>
        </p:nvSpPr>
        <p:spPr>
          <a:xfrm>
            <a:off x="1270623" y="2803733"/>
            <a:ext cx="6401634" cy="2217082"/>
          </a:xfrm>
          <a:prstGeom prst="rect">
            <a:avLst/>
          </a:prstGeom>
        </p:spPr>
        <p:txBody>
          <a:bodyPr lIns="0" tIns="0" rIns="0" bIns="0" rtlCol="0" anchor="t">
            <a:spAutoFit/>
          </a:bodyPr>
          <a:lstStyle/>
          <a:p>
            <a:pPr marL="0" lvl="0" indent="0" algn="l">
              <a:lnSpc>
                <a:spcPts val="2520"/>
              </a:lnSpc>
            </a:pPr>
            <a:r>
              <a:rPr lang="en-US" sz="1600" b="1" spc="90" dirty="0" err="1">
                <a:solidFill>
                  <a:srgbClr val="17022B"/>
                </a:solidFill>
                <a:latin typeface="Canva Sans"/>
                <a:ea typeface="Canva Sans"/>
                <a:cs typeface="Canva Sans"/>
                <a:sym typeface="Canva Sans"/>
              </a:rPr>
              <a:t>AtliQ</a:t>
            </a:r>
            <a:r>
              <a:rPr lang="en-US" sz="1600" b="1" spc="90" dirty="0">
                <a:solidFill>
                  <a:srgbClr val="17022B"/>
                </a:solidFill>
                <a:latin typeface="Canva Sans"/>
                <a:ea typeface="Canva Sans"/>
                <a:cs typeface="Canva Sans"/>
                <a:sym typeface="Canva Sans"/>
              </a:rPr>
              <a:t> Hardware and discuss its business model. It is a consumer goods electronics company having operations in various countries. Their business is growing rapidly and they still rely on excel files for data analytics. Excel files are hard to consume and not effective in generating insights. Also due to the lack of effective analytics the company faced a major loss in Latin America.</a:t>
            </a:r>
          </a:p>
        </p:txBody>
      </p:sp>
      <p:sp>
        <p:nvSpPr>
          <p:cNvPr id="22" name="TextBox 22"/>
          <p:cNvSpPr txBox="1"/>
          <p:nvPr/>
        </p:nvSpPr>
        <p:spPr>
          <a:xfrm>
            <a:off x="1288466" y="5493259"/>
            <a:ext cx="6352686" cy="2238754"/>
          </a:xfrm>
          <a:prstGeom prst="rect">
            <a:avLst/>
          </a:prstGeom>
        </p:spPr>
        <p:txBody>
          <a:bodyPr lIns="0" tIns="0" rIns="0" bIns="0" rtlCol="0" anchor="t">
            <a:spAutoFit/>
          </a:bodyPr>
          <a:lstStyle/>
          <a:p>
            <a:pPr marL="0" lvl="0" indent="0" algn="l">
              <a:lnSpc>
                <a:spcPts val="2211"/>
              </a:lnSpc>
            </a:pPr>
            <a:r>
              <a:rPr lang="en-US" sz="1579" b="1" spc="78" dirty="0">
                <a:solidFill>
                  <a:srgbClr val="17022B"/>
                </a:solidFill>
                <a:latin typeface="Canva Sans"/>
                <a:ea typeface="Canva Sans"/>
                <a:cs typeface="Canva Sans"/>
                <a:sym typeface="Canva Sans"/>
              </a:rPr>
              <a:t>Despite its rapid growth, </a:t>
            </a:r>
            <a:r>
              <a:rPr lang="en-US" sz="1579" b="1" spc="78" dirty="0" err="1">
                <a:solidFill>
                  <a:srgbClr val="17022B"/>
                </a:solidFill>
                <a:latin typeface="Canva Sans"/>
                <a:ea typeface="Canva Sans"/>
                <a:cs typeface="Canva Sans"/>
                <a:sym typeface="Canva Sans"/>
              </a:rPr>
              <a:t>AtliQ</a:t>
            </a:r>
            <a:r>
              <a:rPr lang="en-US" sz="1579" b="1" spc="78" dirty="0">
                <a:solidFill>
                  <a:srgbClr val="17022B"/>
                </a:solidFill>
                <a:latin typeface="Canva Sans"/>
                <a:ea typeface="Canva Sans"/>
                <a:cs typeface="Canva Sans"/>
                <a:sym typeface="Canva Sans"/>
              </a:rPr>
              <a:t> </a:t>
            </a:r>
            <a:r>
              <a:rPr lang="en-US" sz="1579" b="1" spc="78" dirty="0" err="1">
                <a:solidFill>
                  <a:srgbClr val="17022B"/>
                </a:solidFill>
                <a:latin typeface="Canva Sans"/>
                <a:ea typeface="Canva Sans"/>
                <a:cs typeface="Canva Sans"/>
                <a:sym typeface="Canva Sans"/>
              </a:rPr>
              <a:t>Hardwares</a:t>
            </a:r>
            <a:r>
              <a:rPr lang="en-US" sz="1579" b="1" spc="78" dirty="0">
                <a:solidFill>
                  <a:srgbClr val="17022B"/>
                </a:solidFill>
                <a:latin typeface="Canva Sans"/>
                <a:ea typeface="Canva Sans"/>
                <a:cs typeface="Canva Sans"/>
                <a:sym typeface="Canva Sans"/>
              </a:rPr>
              <a:t> continues to rely heavily on Excel-based reporting for analytics and business insights. This traditional approach has proven inefficient for handling large-scale data, leading to delays in decision-making and limited visibility into key performance metrics. The absence of an advanced analytics system has resulted in missed opportunities and significant financial losses in the Latin American market.</a:t>
            </a:r>
          </a:p>
        </p:txBody>
      </p:sp>
      <p:sp>
        <p:nvSpPr>
          <p:cNvPr id="23" name="TextBox 23"/>
          <p:cNvSpPr txBox="1"/>
          <p:nvPr/>
        </p:nvSpPr>
        <p:spPr>
          <a:xfrm>
            <a:off x="1307918" y="8238638"/>
            <a:ext cx="6352686" cy="1581972"/>
          </a:xfrm>
          <a:prstGeom prst="rect">
            <a:avLst/>
          </a:prstGeom>
        </p:spPr>
        <p:txBody>
          <a:bodyPr lIns="0" tIns="0" rIns="0" bIns="0" rtlCol="0" anchor="t">
            <a:spAutoFit/>
          </a:bodyPr>
          <a:lstStyle/>
          <a:p>
            <a:pPr marL="0" lvl="0" indent="0" algn="l">
              <a:lnSpc>
                <a:spcPts val="2500"/>
              </a:lnSpc>
            </a:pPr>
            <a:r>
              <a:rPr lang="en-US" sz="1786" b="1" spc="89" dirty="0">
                <a:solidFill>
                  <a:srgbClr val="17022B"/>
                </a:solidFill>
                <a:latin typeface="Canva Sans"/>
                <a:ea typeface="Canva Sans"/>
                <a:cs typeface="Canva Sans"/>
                <a:sym typeface="Canva Sans"/>
              </a:rPr>
              <a:t>To overcome these challenges, </a:t>
            </a:r>
            <a:r>
              <a:rPr lang="en-US" sz="1786" b="1" spc="89" dirty="0" err="1">
                <a:solidFill>
                  <a:srgbClr val="17022B"/>
                </a:solidFill>
                <a:latin typeface="Canva Sans"/>
                <a:ea typeface="Canva Sans"/>
                <a:cs typeface="Canva Sans"/>
                <a:sym typeface="Canva Sans"/>
              </a:rPr>
              <a:t>AtliQ</a:t>
            </a:r>
            <a:r>
              <a:rPr lang="en-US" sz="1786" b="1" spc="89" dirty="0">
                <a:solidFill>
                  <a:srgbClr val="17022B"/>
                </a:solidFill>
                <a:latin typeface="Canva Sans"/>
                <a:ea typeface="Canva Sans"/>
                <a:cs typeface="Canva Sans"/>
                <a:sym typeface="Canva Sans"/>
              </a:rPr>
              <a:t> </a:t>
            </a:r>
            <a:r>
              <a:rPr lang="en-US" sz="1786" b="1" spc="89" dirty="0" err="1">
                <a:solidFill>
                  <a:srgbClr val="17022B"/>
                </a:solidFill>
                <a:latin typeface="Canva Sans"/>
                <a:ea typeface="Canva Sans"/>
                <a:cs typeface="Canva Sans"/>
                <a:sym typeface="Canva Sans"/>
              </a:rPr>
              <a:t>Hardwares</a:t>
            </a:r>
            <a:r>
              <a:rPr lang="en-US" sz="1786" b="1" spc="89" dirty="0">
                <a:solidFill>
                  <a:srgbClr val="17022B"/>
                </a:solidFill>
                <a:latin typeface="Canva Sans"/>
                <a:ea typeface="Canva Sans"/>
                <a:cs typeface="Canva Sans"/>
                <a:sym typeface="Canva Sans"/>
              </a:rPr>
              <a:t> needs to implement a modern, scalable data analytics solution that enables real-time insights, performance tracking, and strategic decision-making across global operations.</a:t>
            </a:r>
          </a:p>
        </p:txBody>
      </p:sp>
      <p:sp>
        <p:nvSpPr>
          <p:cNvPr id="26" name="TextBox 26"/>
          <p:cNvSpPr txBox="1"/>
          <p:nvPr/>
        </p:nvSpPr>
        <p:spPr>
          <a:xfrm>
            <a:off x="9241688" y="10168067"/>
            <a:ext cx="9643182" cy="787081"/>
          </a:xfrm>
          <a:prstGeom prst="rect">
            <a:avLst/>
          </a:prstGeom>
        </p:spPr>
        <p:txBody>
          <a:bodyPr lIns="50800" tIns="50800" rIns="50800" bIns="50800" rtlCol="0" anchor="ctr"/>
          <a:lstStyle/>
          <a:p>
            <a:pPr algn="ctr">
              <a:lnSpc>
                <a:spcPts val="2640"/>
              </a:lnSpc>
            </a:pPr>
            <a:endParaRPr/>
          </a:p>
        </p:txBody>
      </p:sp>
      <p:pic>
        <p:nvPicPr>
          <p:cNvPr id="30" name="Picture 29">
            <a:extLst>
              <a:ext uri="{FF2B5EF4-FFF2-40B4-BE49-F238E27FC236}">
                <a16:creationId xmlns:a16="http://schemas.microsoft.com/office/drawing/2014/main" id="{00072277-7209-71FD-F0B6-5B8C8FA885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1083" y="607529"/>
            <a:ext cx="9187573" cy="8422095"/>
          </a:xfrm>
          <a:prstGeom prst="rect">
            <a:avLst/>
          </a:prstGeom>
        </p:spPr>
      </p:pic>
      <p:pic>
        <p:nvPicPr>
          <p:cNvPr id="24" name="Picture 23">
            <a:extLst>
              <a:ext uri="{FF2B5EF4-FFF2-40B4-BE49-F238E27FC236}">
                <a16:creationId xmlns:a16="http://schemas.microsoft.com/office/drawing/2014/main" id="{85120016-33DC-4937-E7A1-093CFC54FD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309" y="1789530"/>
            <a:ext cx="1294826" cy="9099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67E4846A-B6E8-AF37-4782-5DFD1C1D6535}"/>
              </a:ext>
            </a:extLst>
          </p:cNvPr>
          <p:cNvSpPr/>
          <p:nvPr/>
        </p:nvSpPr>
        <p:spPr>
          <a:xfrm>
            <a:off x="8373745" y="1407542"/>
            <a:ext cx="9899014" cy="8879458"/>
          </a:xfrm>
          <a:prstGeom prst="rect">
            <a:avLst/>
          </a:prstGeom>
          <a:solidFill>
            <a:srgbClr val="3E1B59"/>
          </a:solidFill>
          <a:ln>
            <a:solidFill>
              <a:srgbClr val="3E1B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2"/>
          <p:cNvSpPr txBox="1"/>
          <p:nvPr/>
        </p:nvSpPr>
        <p:spPr>
          <a:xfrm>
            <a:off x="1066800" y="97499"/>
            <a:ext cx="16535400" cy="1179169"/>
          </a:xfrm>
          <a:prstGeom prst="rect">
            <a:avLst/>
          </a:prstGeom>
        </p:spPr>
        <p:txBody>
          <a:bodyPr wrap="square" lIns="0" tIns="0" rIns="0" bIns="0" rtlCol="0" anchor="t">
            <a:spAutoFit/>
          </a:bodyPr>
          <a:lstStyle/>
          <a:p>
            <a:pPr algn="ctr">
              <a:lnSpc>
                <a:spcPts val="10120"/>
              </a:lnSpc>
            </a:pPr>
            <a:r>
              <a:rPr lang="en-US" sz="5400" dirty="0">
                <a:solidFill>
                  <a:srgbClr val="000000"/>
                </a:solidFill>
                <a:latin typeface="League Spartan"/>
                <a:ea typeface="League Spartan"/>
                <a:cs typeface="League Spartan"/>
                <a:sym typeface="League Spartan"/>
              </a:rPr>
              <a:t>Business Model of </a:t>
            </a:r>
            <a:r>
              <a:rPr lang="en-US" sz="5400" dirty="0" err="1">
                <a:solidFill>
                  <a:srgbClr val="000000"/>
                </a:solidFill>
                <a:latin typeface="League Spartan"/>
                <a:ea typeface="League Spartan"/>
                <a:cs typeface="League Spartan"/>
                <a:sym typeface="League Spartan"/>
              </a:rPr>
              <a:t>AtliQ</a:t>
            </a:r>
            <a:r>
              <a:rPr lang="en-US" sz="5400" dirty="0">
                <a:solidFill>
                  <a:srgbClr val="000000"/>
                </a:solidFill>
                <a:latin typeface="League Spartan"/>
                <a:ea typeface="League Spartan"/>
                <a:cs typeface="League Spartan"/>
                <a:sym typeface="League Spartan"/>
              </a:rPr>
              <a:t> </a:t>
            </a:r>
            <a:r>
              <a:rPr lang="en-US" sz="5400" dirty="0" err="1">
                <a:solidFill>
                  <a:srgbClr val="000000"/>
                </a:solidFill>
                <a:latin typeface="League Spartan"/>
                <a:ea typeface="League Spartan"/>
                <a:cs typeface="League Spartan"/>
                <a:sym typeface="League Spartan"/>
              </a:rPr>
              <a:t>Hardwares</a:t>
            </a:r>
            <a:endParaRPr lang="en-US" sz="5400" dirty="0">
              <a:solidFill>
                <a:srgbClr val="000000"/>
              </a:solidFill>
              <a:latin typeface="League Spartan"/>
              <a:ea typeface="League Spartan"/>
              <a:cs typeface="League Spartan"/>
              <a:sym typeface="League Spartan"/>
            </a:endParaRPr>
          </a:p>
        </p:txBody>
      </p:sp>
      <p:sp>
        <p:nvSpPr>
          <p:cNvPr id="26" name="TextBox 25">
            <a:extLst>
              <a:ext uri="{FF2B5EF4-FFF2-40B4-BE49-F238E27FC236}">
                <a16:creationId xmlns:a16="http://schemas.microsoft.com/office/drawing/2014/main" id="{18DBDA14-C48D-C5AB-BBCC-6819D0565398}"/>
              </a:ext>
            </a:extLst>
          </p:cNvPr>
          <p:cNvSpPr txBox="1"/>
          <p:nvPr/>
        </p:nvSpPr>
        <p:spPr>
          <a:xfrm>
            <a:off x="762000" y="1866900"/>
            <a:ext cx="7315200" cy="1323439"/>
          </a:xfrm>
          <a:prstGeom prst="rect">
            <a:avLst/>
          </a:prstGeom>
          <a:noFill/>
        </p:spPr>
        <p:txBody>
          <a:bodyPr wrap="square">
            <a:spAutoFit/>
          </a:bodyPr>
          <a:lstStyle/>
          <a:p>
            <a:pPr>
              <a:buNone/>
            </a:pPr>
            <a:r>
              <a:rPr lang="en-US" sz="2000" b="1" dirty="0"/>
              <a:t>B2B + B2C </a:t>
            </a:r>
            <a:endParaRPr lang="en-US" sz="2000" dirty="0"/>
          </a:p>
          <a:p>
            <a:pPr>
              <a:buFont typeface="Arial" panose="020B0604020202020204" pitchFamily="34" charset="0"/>
              <a:buChar char="•"/>
            </a:pPr>
            <a:r>
              <a:rPr lang="en-US" sz="2000" b="1" dirty="0"/>
              <a:t>B2B:</a:t>
            </a:r>
            <a:r>
              <a:rPr lang="en-US" sz="2000" dirty="0"/>
              <a:t> Sells to distributors, retailers, and wholesalers.</a:t>
            </a:r>
          </a:p>
          <a:p>
            <a:pPr>
              <a:buFont typeface="Arial" panose="020B0604020202020204" pitchFamily="34" charset="0"/>
              <a:buChar char="•"/>
            </a:pPr>
            <a:r>
              <a:rPr lang="en-US" sz="2000" b="1" dirty="0"/>
              <a:t>B2C: </a:t>
            </a:r>
            <a:r>
              <a:rPr lang="en-US" sz="2000" dirty="0"/>
              <a:t>Sells directly to customers through e-commerce and retail partners</a:t>
            </a:r>
            <a:r>
              <a:rPr lang="en-US" dirty="0"/>
              <a:t>.</a:t>
            </a:r>
          </a:p>
        </p:txBody>
      </p:sp>
      <p:pic>
        <p:nvPicPr>
          <p:cNvPr id="33" name="Picture 32">
            <a:extLst>
              <a:ext uri="{FF2B5EF4-FFF2-40B4-BE49-F238E27FC236}">
                <a16:creationId xmlns:a16="http://schemas.microsoft.com/office/drawing/2014/main" id="{567317C1-A695-0FF0-70D8-80A44F4D8D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1" y="2911754"/>
            <a:ext cx="8556627" cy="7375246"/>
          </a:xfrm>
          <a:prstGeom prst="rect">
            <a:avLst/>
          </a:prstGeom>
        </p:spPr>
      </p:pic>
      <p:sp>
        <p:nvSpPr>
          <p:cNvPr id="42" name="TextBox 4">
            <a:extLst>
              <a:ext uri="{FF2B5EF4-FFF2-40B4-BE49-F238E27FC236}">
                <a16:creationId xmlns:a16="http://schemas.microsoft.com/office/drawing/2014/main" id="{278E4CD6-F0DD-8A71-6AF7-EE5F41D374C4}"/>
              </a:ext>
            </a:extLst>
          </p:cNvPr>
          <p:cNvSpPr txBox="1"/>
          <p:nvPr/>
        </p:nvSpPr>
        <p:spPr>
          <a:xfrm>
            <a:off x="8868413" y="-647700"/>
            <a:ext cx="9404346" cy="10389391"/>
          </a:xfrm>
          <a:prstGeom prst="rect">
            <a:avLst/>
          </a:prstGeom>
        </p:spPr>
        <p:txBody>
          <a:bodyPr lIns="50800" tIns="50800" rIns="50800" bIns="50800" rtlCol="0" anchor="ctr"/>
          <a:lstStyle/>
          <a:p>
            <a:pPr algn="ctr">
              <a:lnSpc>
                <a:spcPts val="2640"/>
              </a:lnSpc>
            </a:pPr>
            <a:endParaRPr/>
          </a:p>
        </p:txBody>
      </p:sp>
      <p:pic>
        <p:nvPicPr>
          <p:cNvPr id="58" name="Picture 57">
            <a:extLst>
              <a:ext uri="{FF2B5EF4-FFF2-40B4-BE49-F238E27FC236}">
                <a16:creationId xmlns:a16="http://schemas.microsoft.com/office/drawing/2014/main" id="{56FFB42F-00F6-AA2C-A5AF-05CF26B857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3744" y="1407543"/>
            <a:ext cx="9914256" cy="8431648"/>
          </a:xfrm>
          <a:prstGeom prst="rect">
            <a:avLst/>
          </a:prstGeom>
        </p:spPr>
      </p:pic>
      <p:pic>
        <p:nvPicPr>
          <p:cNvPr id="59" name="Picture 58">
            <a:extLst>
              <a:ext uri="{FF2B5EF4-FFF2-40B4-BE49-F238E27FC236}">
                <a16:creationId xmlns:a16="http://schemas.microsoft.com/office/drawing/2014/main" id="{BDB54449-178E-3048-A4F4-8C3DF0240D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00" y="0"/>
            <a:ext cx="2057400" cy="1714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13" name="Freeform 13"/>
          <p:cNvSpPr/>
          <p:nvPr/>
        </p:nvSpPr>
        <p:spPr>
          <a:xfrm rot="5400000" flipH="1">
            <a:off x="12375870" y="5292306"/>
            <a:ext cx="1857788" cy="2599958"/>
          </a:xfrm>
          <a:custGeom>
            <a:avLst/>
            <a:gdLst/>
            <a:ahLst/>
            <a:cxnLst/>
            <a:rect l="l" t="t" r="r" b="b"/>
            <a:pathLst>
              <a:path w="1857788" h="2599958">
                <a:moveTo>
                  <a:pt x="1857789" y="0"/>
                </a:moveTo>
                <a:lnTo>
                  <a:pt x="0" y="0"/>
                </a:lnTo>
                <a:lnTo>
                  <a:pt x="0" y="2599958"/>
                </a:lnTo>
                <a:lnTo>
                  <a:pt x="1857789" y="2599958"/>
                </a:lnTo>
                <a:lnTo>
                  <a:pt x="185778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11608772" y="7802771"/>
            <a:ext cx="3185756" cy="1155033"/>
          </a:xfrm>
          <a:prstGeom prst="rect">
            <a:avLst/>
          </a:prstGeom>
        </p:spPr>
        <p:txBody>
          <a:bodyPr lIns="0" tIns="0" rIns="0" bIns="0" rtlCol="0" anchor="t">
            <a:spAutoFit/>
          </a:bodyPr>
          <a:lstStyle/>
          <a:p>
            <a:pPr marL="0" lvl="0" indent="0" algn="ctr">
              <a:lnSpc>
                <a:spcPts val="4542"/>
              </a:lnSpc>
              <a:spcBef>
                <a:spcPct val="0"/>
              </a:spcBef>
            </a:pPr>
            <a:r>
              <a:rPr lang="en-US" sz="4129">
                <a:solidFill>
                  <a:srgbClr val="FBFAFF"/>
                </a:solidFill>
                <a:latin typeface="League Spartan"/>
                <a:ea typeface="League Spartan"/>
                <a:cs typeface="League Spartan"/>
                <a:sym typeface="League Spartan"/>
              </a:rPr>
              <a:t>WARDIERE </a:t>
            </a:r>
            <a:r>
              <a:rPr lang="en-US" sz="4129" b="1" u="none" strike="noStrike">
                <a:solidFill>
                  <a:srgbClr val="FBFAFF"/>
                </a:solidFill>
                <a:latin typeface="League Spartan"/>
                <a:ea typeface="League Spartan"/>
                <a:cs typeface="League Spartan"/>
                <a:sym typeface="League Spartan"/>
              </a:rPr>
              <a:t>BUSINESS</a:t>
            </a:r>
          </a:p>
        </p:txBody>
      </p:sp>
      <p:grpSp>
        <p:nvGrpSpPr>
          <p:cNvPr id="20" name="Group 20"/>
          <p:cNvGrpSpPr/>
          <p:nvPr/>
        </p:nvGrpSpPr>
        <p:grpSpPr>
          <a:xfrm>
            <a:off x="-430443" y="9800115"/>
            <a:ext cx="19315313" cy="1155034"/>
            <a:chOff x="0" y="0"/>
            <a:chExt cx="5087161" cy="226347"/>
          </a:xfrm>
        </p:grpSpPr>
        <p:sp>
          <p:nvSpPr>
            <p:cNvPr id="21" name="Freeform 21"/>
            <p:cNvSpPr/>
            <p:nvPr/>
          </p:nvSpPr>
          <p:spPr>
            <a:xfrm>
              <a:off x="0" y="0"/>
              <a:ext cx="5087161" cy="226347"/>
            </a:xfrm>
            <a:custGeom>
              <a:avLst/>
              <a:gdLst/>
              <a:ahLst/>
              <a:cxnLst/>
              <a:rect l="l" t="t" r="r" b="b"/>
              <a:pathLst>
                <a:path w="5087161" h="226347">
                  <a:moveTo>
                    <a:pt x="0" y="0"/>
                  </a:moveTo>
                  <a:lnTo>
                    <a:pt x="5087161" y="0"/>
                  </a:lnTo>
                  <a:lnTo>
                    <a:pt x="5087161" y="226347"/>
                  </a:lnTo>
                  <a:lnTo>
                    <a:pt x="0" y="226347"/>
                  </a:lnTo>
                  <a:close/>
                </a:path>
              </a:pathLst>
            </a:custGeom>
            <a:solidFill>
              <a:srgbClr val="3C096C"/>
            </a:solidFill>
          </p:spPr>
        </p:sp>
        <p:sp>
          <p:nvSpPr>
            <p:cNvPr id="22" name="TextBox 22"/>
            <p:cNvSpPr txBox="1"/>
            <p:nvPr/>
          </p:nvSpPr>
          <p:spPr>
            <a:xfrm>
              <a:off x="0" y="19050"/>
              <a:ext cx="5087161" cy="207297"/>
            </a:xfrm>
            <a:prstGeom prst="rect">
              <a:avLst/>
            </a:prstGeom>
          </p:spPr>
          <p:txBody>
            <a:bodyPr lIns="50800" tIns="50800" rIns="50800" bIns="50800" rtlCol="0" anchor="ctr"/>
            <a:lstStyle/>
            <a:p>
              <a:pPr algn="ctr">
                <a:lnSpc>
                  <a:spcPts val="2640"/>
                </a:lnSpc>
              </a:pPr>
              <a:endParaRPr/>
            </a:p>
          </p:txBody>
        </p:sp>
      </p:grpSp>
      <p:pic>
        <p:nvPicPr>
          <p:cNvPr id="24" name="Picture 23">
            <a:extLst>
              <a:ext uri="{FF2B5EF4-FFF2-40B4-BE49-F238E27FC236}">
                <a16:creationId xmlns:a16="http://schemas.microsoft.com/office/drawing/2014/main" id="{F0DC3E5A-9380-945A-AF37-2E69E95851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200" y="-45662"/>
            <a:ext cx="10363200" cy="9829800"/>
          </a:xfrm>
          <a:prstGeom prst="rect">
            <a:avLst/>
          </a:prstGeom>
        </p:spPr>
      </p:pic>
      <p:sp>
        <p:nvSpPr>
          <p:cNvPr id="25" name="TextBox 24">
            <a:extLst>
              <a:ext uri="{FF2B5EF4-FFF2-40B4-BE49-F238E27FC236}">
                <a16:creationId xmlns:a16="http://schemas.microsoft.com/office/drawing/2014/main" id="{44738142-ED7F-2B91-F5D6-2E3737FE767B}"/>
              </a:ext>
            </a:extLst>
          </p:cNvPr>
          <p:cNvSpPr txBox="1"/>
          <p:nvPr/>
        </p:nvSpPr>
        <p:spPr>
          <a:xfrm>
            <a:off x="685800" y="4081671"/>
            <a:ext cx="4343400" cy="2123658"/>
          </a:xfrm>
          <a:prstGeom prst="rect">
            <a:avLst/>
          </a:prstGeom>
          <a:noFill/>
        </p:spPr>
        <p:txBody>
          <a:bodyPr wrap="square" rtlCol="0">
            <a:spAutoFit/>
          </a:bodyPr>
          <a:lstStyle/>
          <a:p>
            <a:pPr algn="ctr"/>
            <a:r>
              <a:rPr lang="en-US" sz="6600" dirty="0">
                <a:latin typeface="Bookman Old Style" panose="02050604050505020204" pitchFamily="18" charset="0"/>
              </a:rPr>
              <a:t>Dataset Details</a:t>
            </a:r>
            <a:endParaRPr lang="en-IN" sz="6600" dirty="0">
              <a:latin typeface="Bookman Old Style" panose="02050604050505020204" pitchFamily="18" charset="0"/>
            </a:endParaRPr>
          </a:p>
        </p:txBody>
      </p:sp>
      <p:pic>
        <p:nvPicPr>
          <p:cNvPr id="26" name="Picture 25">
            <a:extLst>
              <a:ext uri="{FF2B5EF4-FFF2-40B4-BE49-F238E27FC236}">
                <a16:creationId xmlns:a16="http://schemas.microsoft.com/office/drawing/2014/main" id="{04AEA700-5AD6-DEB5-A6DB-5CEA4ADF2C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857" y="20894"/>
            <a:ext cx="2057400" cy="1998503"/>
          </a:xfrm>
          <a:prstGeom prst="rect">
            <a:avLst/>
          </a:prstGeom>
        </p:spPr>
      </p:pic>
      <p:sp>
        <p:nvSpPr>
          <p:cNvPr id="27" name="Arrow: Striped Right 26">
            <a:extLst>
              <a:ext uri="{FF2B5EF4-FFF2-40B4-BE49-F238E27FC236}">
                <a16:creationId xmlns:a16="http://schemas.microsoft.com/office/drawing/2014/main" id="{E04BF543-48AC-9F52-9AFF-AAE93A13B682}"/>
              </a:ext>
            </a:extLst>
          </p:cNvPr>
          <p:cNvSpPr/>
          <p:nvPr/>
        </p:nvSpPr>
        <p:spPr>
          <a:xfrm>
            <a:off x="5861206" y="4816573"/>
            <a:ext cx="978408" cy="653854"/>
          </a:xfrm>
          <a:prstGeom prst="striped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13" name="TextBox 13"/>
          <p:cNvSpPr txBox="1"/>
          <p:nvPr/>
        </p:nvSpPr>
        <p:spPr>
          <a:xfrm>
            <a:off x="2860446" y="6268476"/>
            <a:ext cx="2359254" cy="1379052"/>
          </a:xfrm>
          <a:prstGeom prst="rect">
            <a:avLst/>
          </a:prstGeom>
        </p:spPr>
        <p:txBody>
          <a:bodyPr lIns="50800" tIns="50800" rIns="50800" bIns="50800" rtlCol="0" anchor="ctr"/>
          <a:lstStyle/>
          <a:p>
            <a:pPr algn="ctr">
              <a:lnSpc>
                <a:spcPts val="2640"/>
              </a:lnSpc>
            </a:pPr>
            <a:endParaRPr/>
          </a:p>
        </p:txBody>
      </p:sp>
      <p:sp>
        <p:nvSpPr>
          <p:cNvPr id="31" name="TextBox 31"/>
          <p:cNvSpPr txBox="1"/>
          <p:nvPr/>
        </p:nvSpPr>
        <p:spPr>
          <a:xfrm>
            <a:off x="11117089" y="6925229"/>
            <a:ext cx="2628691" cy="2333071"/>
          </a:xfrm>
          <a:prstGeom prst="rect">
            <a:avLst/>
          </a:prstGeom>
        </p:spPr>
        <p:txBody>
          <a:bodyPr lIns="50800" tIns="50800" rIns="50800" bIns="50800" rtlCol="0" anchor="ctr"/>
          <a:lstStyle/>
          <a:p>
            <a:pPr algn="ctr">
              <a:lnSpc>
                <a:spcPts val="2640"/>
              </a:lnSpc>
            </a:pPr>
            <a:endParaRPr/>
          </a:p>
        </p:txBody>
      </p:sp>
      <p:sp>
        <p:nvSpPr>
          <p:cNvPr id="35" name="TextBox 35"/>
          <p:cNvSpPr txBox="1"/>
          <p:nvPr/>
        </p:nvSpPr>
        <p:spPr>
          <a:xfrm>
            <a:off x="6650880" y="-242440"/>
            <a:ext cx="3687069" cy="1125308"/>
          </a:xfrm>
          <a:prstGeom prst="rect">
            <a:avLst/>
          </a:prstGeom>
        </p:spPr>
        <p:txBody>
          <a:bodyPr wrap="square" lIns="0" tIns="0" rIns="0" bIns="0" rtlCol="0" anchor="t">
            <a:spAutoFit/>
          </a:bodyPr>
          <a:lstStyle/>
          <a:p>
            <a:pPr algn="ctr">
              <a:lnSpc>
                <a:spcPts val="10120"/>
              </a:lnSpc>
            </a:pPr>
            <a:r>
              <a:rPr lang="en-US" sz="4000" dirty="0">
                <a:solidFill>
                  <a:srgbClr val="000000"/>
                </a:solidFill>
                <a:latin typeface="League Spartan"/>
                <a:ea typeface="League Spartan"/>
                <a:cs typeface="League Spartan"/>
                <a:sym typeface="League Spartan"/>
              </a:rPr>
              <a:t>Overview</a:t>
            </a:r>
          </a:p>
        </p:txBody>
      </p:sp>
      <p:sp>
        <p:nvSpPr>
          <p:cNvPr id="36" name="TextBox 36"/>
          <p:cNvSpPr txBox="1"/>
          <p:nvPr/>
        </p:nvSpPr>
        <p:spPr>
          <a:xfrm>
            <a:off x="11437192" y="5483148"/>
            <a:ext cx="1259730" cy="925830"/>
          </a:xfrm>
          <a:prstGeom prst="rect">
            <a:avLst/>
          </a:prstGeom>
        </p:spPr>
        <p:txBody>
          <a:bodyPr lIns="0" tIns="0" rIns="0" bIns="0" rtlCol="0" anchor="t">
            <a:spAutoFit/>
          </a:bodyPr>
          <a:lstStyle/>
          <a:p>
            <a:pPr algn="l">
              <a:lnSpc>
                <a:spcPts val="2520"/>
              </a:lnSpc>
            </a:pPr>
            <a:r>
              <a:rPr lang="en-US" sz="1800" spc="90">
                <a:solidFill>
                  <a:srgbClr val="FFFFFF"/>
                </a:solidFill>
                <a:latin typeface="Canva Sans"/>
                <a:ea typeface="Canva Sans"/>
                <a:cs typeface="Canva Sans"/>
                <a:sym typeface="Canva Sans"/>
              </a:rPr>
              <a:t>RGB</a:t>
            </a:r>
          </a:p>
          <a:p>
            <a:pPr algn="l">
              <a:lnSpc>
                <a:spcPts val="2520"/>
              </a:lnSpc>
            </a:pPr>
            <a:r>
              <a:rPr lang="en-US" sz="1800" spc="90">
                <a:solidFill>
                  <a:srgbClr val="FFFFFF"/>
                </a:solidFill>
                <a:latin typeface="Canva Sans"/>
                <a:ea typeface="Canva Sans"/>
                <a:cs typeface="Canva Sans"/>
                <a:sym typeface="Canva Sans"/>
              </a:rPr>
              <a:t>CMYK</a:t>
            </a:r>
          </a:p>
          <a:p>
            <a:pPr marL="0" lvl="0" indent="0" algn="l">
              <a:lnSpc>
                <a:spcPts val="2520"/>
              </a:lnSpc>
            </a:pPr>
            <a:r>
              <a:rPr lang="en-US" sz="1800" spc="90">
                <a:solidFill>
                  <a:srgbClr val="FFFFFF"/>
                </a:solidFill>
                <a:latin typeface="Canva Sans"/>
                <a:ea typeface="Canva Sans"/>
                <a:cs typeface="Canva Sans"/>
                <a:sym typeface="Canva Sans"/>
              </a:rPr>
              <a:t>Hex</a:t>
            </a:r>
          </a:p>
        </p:txBody>
      </p:sp>
      <p:sp>
        <p:nvSpPr>
          <p:cNvPr id="37" name="TextBox 37"/>
          <p:cNvSpPr txBox="1"/>
          <p:nvPr/>
        </p:nvSpPr>
        <p:spPr>
          <a:xfrm>
            <a:off x="1175041" y="6851520"/>
            <a:ext cx="1259730" cy="693420"/>
          </a:xfrm>
          <a:prstGeom prst="rect">
            <a:avLst/>
          </a:prstGeom>
        </p:spPr>
        <p:txBody>
          <a:bodyPr lIns="0" tIns="0" rIns="0" bIns="0" rtlCol="0" anchor="t">
            <a:spAutoFit/>
          </a:bodyPr>
          <a:lstStyle/>
          <a:p>
            <a:pPr algn="l">
              <a:lnSpc>
                <a:spcPts val="1800"/>
              </a:lnSpc>
            </a:pPr>
            <a:r>
              <a:rPr lang="en-US" sz="1800" spc="90">
                <a:solidFill>
                  <a:srgbClr val="FFFFFF"/>
                </a:solidFill>
                <a:latin typeface="Canva Sans"/>
                <a:ea typeface="Canva Sans"/>
                <a:cs typeface="Canva Sans"/>
                <a:sym typeface="Canva Sans"/>
              </a:rPr>
              <a:t>RGB</a:t>
            </a:r>
          </a:p>
          <a:p>
            <a:pPr algn="l">
              <a:lnSpc>
                <a:spcPts val="1800"/>
              </a:lnSpc>
            </a:pPr>
            <a:r>
              <a:rPr lang="en-US" sz="1800" spc="90">
                <a:solidFill>
                  <a:srgbClr val="FFFFFF"/>
                </a:solidFill>
                <a:latin typeface="Canva Sans"/>
                <a:ea typeface="Canva Sans"/>
                <a:cs typeface="Canva Sans"/>
                <a:sym typeface="Canva Sans"/>
              </a:rPr>
              <a:t>CMYK</a:t>
            </a:r>
          </a:p>
          <a:p>
            <a:pPr marL="0" lvl="0" indent="0" algn="l">
              <a:lnSpc>
                <a:spcPts val="1800"/>
              </a:lnSpc>
            </a:pPr>
            <a:r>
              <a:rPr lang="en-US" sz="1800" spc="90">
                <a:solidFill>
                  <a:srgbClr val="FFFFFF"/>
                </a:solidFill>
                <a:latin typeface="Canva Sans"/>
                <a:ea typeface="Canva Sans"/>
                <a:cs typeface="Canva Sans"/>
                <a:sym typeface="Canva Sans"/>
              </a:rPr>
              <a:t>Hex</a:t>
            </a:r>
          </a:p>
        </p:txBody>
      </p:sp>
      <p:sp>
        <p:nvSpPr>
          <p:cNvPr id="38" name="TextBox 38"/>
          <p:cNvSpPr txBox="1"/>
          <p:nvPr/>
        </p:nvSpPr>
        <p:spPr>
          <a:xfrm>
            <a:off x="1175041" y="8412386"/>
            <a:ext cx="1259730" cy="693420"/>
          </a:xfrm>
          <a:prstGeom prst="rect">
            <a:avLst/>
          </a:prstGeom>
        </p:spPr>
        <p:txBody>
          <a:bodyPr lIns="0" tIns="0" rIns="0" bIns="0" rtlCol="0" anchor="t">
            <a:spAutoFit/>
          </a:bodyPr>
          <a:lstStyle/>
          <a:p>
            <a:pPr algn="l">
              <a:lnSpc>
                <a:spcPts val="1800"/>
              </a:lnSpc>
            </a:pPr>
            <a:r>
              <a:rPr lang="en-US" sz="1800" spc="90">
                <a:solidFill>
                  <a:srgbClr val="FFFFFF"/>
                </a:solidFill>
                <a:latin typeface="Canva Sans"/>
                <a:ea typeface="Canva Sans"/>
                <a:cs typeface="Canva Sans"/>
                <a:sym typeface="Canva Sans"/>
              </a:rPr>
              <a:t>RGB</a:t>
            </a:r>
          </a:p>
          <a:p>
            <a:pPr algn="l">
              <a:lnSpc>
                <a:spcPts val="1800"/>
              </a:lnSpc>
            </a:pPr>
            <a:r>
              <a:rPr lang="en-US" sz="1800" spc="90">
                <a:solidFill>
                  <a:srgbClr val="FFFFFF"/>
                </a:solidFill>
                <a:latin typeface="Canva Sans"/>
                <a:ea typeface="Canva Sans"/>
                <a:cs typeface="Canva Sans"/>
                <a:sym typeface="Canva Sans"/>
              </a:rPr>
              <a:t>CMYK</a:t>
            </a:r>
          </a:p>
          <a:p>
            <a:pPr marL="0" lvl="0" indent="0" algn="l">
              <a:lnSpc>
                <a:spcPts val="1800"/>
              </a:lnSpc>
            </a:pPr>
            <a:r>
              <a:rPr lang="en-US" sz="1800" spc="90">
                <a:solidFill>
                  <a:srgbClr val="FFFFFF"/>
                </a:solidFill>
                <a:latin typeface="Canva Sans"/>
                <a:ea typeface="Canva Sans"/>
                <a:cs typeface="Canva Sans"/>
                <a:sym typeface="Canva Sans"/>
              </a:rPr>
              <a:t>Hex</a:t>
            </a:r>
          </a:p>
        </p:txBody>
      </p:sp>
      <p:sp>
        <p:nvSpPr>
          <p:cNvPr id="40" name="TextBox 40"/>
          <p:cNvSpPr txBox="1"/>
          <p:nvPr/>
        </p:nvSpPr>
        <p:spPr>
          <a:xfrm>
            <a:off x="5391150" y="8412386"/>
            <a:ext cx="1259730" cy="693420"/>
          </a:xfrm>
          <a:prstGeom prst="rect">
            <a:avLst/>
          </a:prstGeom>
        </p:spPr>
        <p:txBody>
          <a:bodyPr lIns="0" tIns="0" rIns="0" bIns="0" rtlCol="0" anchor="t">
            <a:spAutoFit/>
          </a:bodyPr>
          <a:lstStyle/>
          <a:p>
            <a:pPr algn="l">
              <a:lnSpc>
                <a:spcPts val="1800"/>
              </a:lnSpc>
            </a:pPr>
            <a:r>
              <a:rPr lang="en-US" sz="1800" spc="90">
                <a:solidFill>
                  <a:srgbClr val="FFFFFF"/>
                </a:solidFill>
                <a:latin typeface="Canva Sans"/>
                <a:ea typeface="Canva Sans"/>
                <a:cs typeface="Canva Sans"/>
                <a:sym typeface="Canva Sans"/>
              </a:rPr>
              <a:t>RGB</a:t>
            </a:r>
          </a:p>
          <a:p>
            <a:pPr algn="l">
              <a:lnSpc>
                <a:spcPts val="1800"/>
              </a:lnSpc>
            </a:pPr>
            <a:r>
              <a:rPr lang="en-US" sz="1800" spc="90">
                <a:solidFill>
                  <a:srgbClr val="FFFFFF"/>
                </a:solidFill>
                <a:latin typeface="Canva Sans"/>
                <a:ea typeface="Canva Sans"/>
                <a:cs typeface="Canva Sans"/>
                <a:sym typeface="Canva Sans"/>
              </a:rPr>
              <a:t>CMYK</a:t>
            </a:r>
          </a:p>
          <a:p>
            <a:pPr marL="0" lvl="0" indent="0" algn="l">
              <a:lnSpc>
                <a:spcPts val="1800"/>
              </a:lnSpc>
            </a:pPr>
            <a:r>
              <a:rPr lang="en-US" sz="1800" spc="90">
                <a:solidFill>
                  <a:srgbClr val="FFFFFF"/>
                </a:solidFill>
                <a:latin typeface="Canva Sans"/>
                <a:ea typeface="Canva Sans"/>
                <a:cs typeface="Canva Sans"/>
                <a:sym typeface="Canva Sans"/>
              </a:rPr>
              <a:t>Hex</a:t>
            </a:r>
          </a:p>
        </p:txBody>
      </p:sp>
      <p:sp>
        <p:nvSpPr>
          <p:cNvPr id="41" name="TextBox 41"/>
          <p:cNvSpPr txBox="1"/>
          <p:nvPr/>
        </p:nvSpPr>
        <p:spPr>
          <a:xfrm>
            <a:off x="3102121" y="6851520"/>
            <a:ext cx="1259730" cy="693420"/>
          </a:xfrm>
          <a:prstGeom prst="rect">
            <a:avLst/>
          </a:prstGeom>
        </p:spPr>
        <p:txBody>
          <a:bodyPr lIns="0" tIns="0" rIns="0" bIns="0" rtlCol="0" anchor="t">
            <a:spAutoFit/>
          </a:bodyPr>
          <a:lstStyle/>
          <a:p>
            <a:pPr algn="l">
              <a:lnSpc>
                <a:spcPts val="1800"/>
              </a:lnSpc>
            </a:pPr>
            <a:r>
              <a:rPr lang="en-US" sz="1800" spc="90">
                <a:solidFill>
                  <a:srgbClr val="FFFFFF"/>
                </a:solidFill>
                <a:latin typeface="Canva Sans"/>
                <a:ea typeface="Canva Sans"/>
                <a:cs typeface="Canva Sans"/>
                <a:sym typeface="Canva Sans"/>
              </a:rPr>
              <a:t>RGB</a:t>
            </a:r>
          </a:p>
          <a:p>
            <a:pPr algn="l">
              <a:lnSpc>
                <a:spcPts val="1800"/>
              </a:lnSpc>
            </a:pPr>
            <a:r>
              <a:rPr lang="en-US" sz="1800" spc="90">
                <a:solidFill>
                  <a:srgbClr val="FFFFFF"/>
                </a:solidFill>
                <a:latin typeface="Canva Sans"/>
                <a:ea typeface="Canva Sans"/>
                <a:cs typeface="Canva Sans"/>
                <a:sym typeface="Canva Sans"/>
              </a:rPr>
              <a:t>CMYK</a:t>
            </a:r>
          </a:p>
          <a:p>
            <a:pPr marL="0" lvl="0" indent="0" algn="l">
              <a:lnSpc>
                <a:spcPts val="1800"/>
              </a:lnSpc>
            </a:pPr>
            <a:r>
              <a:rPr lang="en-US" sz="1800" spc="90">
                <a:solidFill>
                  <a:srgbClr val="FFFFFF"/>
                </a:solidFill>
                <a:latin typeface="Canva Sans"/>
                <a:ea typeface="Canva Sans"/>
                <a:cs typeface="Canva Sans"/>
                <a:sym typeface="Canva Sans"/>
              </a:rPr>
              <a:t>Hex</a:t>
            </a:r>
          </a:p>
        </p:txBody>
      </p:sp>
      <p:sp>
        <p:nvSpPr>
          <p:cNvPr id="42" name="TextBox 42"/>
          <p:cNvSpPr txBox="1"/>
          <p:nvPr/>
        </p:nvSpPr>
        <p:spPr>
          <a:xfrm>
            <a:off x="3102121" y="8412386"/>
            <a:ext cx="1259730" cy="693420"/>
          </a:xfrm>
          <a:prstGeom prst="rect">
            <a:avLst/>
          </a:prstGeom>
        </p:spPr>
        <p:txBody>
          <a:bodyPr lIns="0" tIns="0" rIns="0" bIns="0" rtlCol="0" anchor="t">
            <a:spAutoFit/>
          </a:bodyPr>
          <a:lstStyle/>
          <a:p>
            <a:pPr algn="l">
              <a:lnSpc>
                <a:spcPts val="1800"/>
              </a:lnSpc>
            </a:pPr>
            <a:r>
              <a:rPr lang="en-US" sz="1800" spc="90">
                <a:solidFill>
                  <a:srgbClr val="FFFFFF"/>
                </a:solidFill>
                <a:latin typeface="Canva Sans"/>
                <a:ea typeface="Canva Sans"/>
                <a:cs typeface="Canva Sans"/>
                <a:sym typeface="Canva Sans"/>
              </a:rPr>
              <a:t>RGB</a:t>
            </a:r>
          </a:p>
          <a:p>
            <a:pPr algn="l">
              <a:lnSpc>
                <a:spcPts val="1800"/>
              </a:lnSpc>
            </a:pPr>
            <a:r>
              <a:rPr lang="en-US" sz="1800" spc="90">
                <a:solidFill>
                  <a:srgbClr val="FFFFFF"/>
                </a:solidFill>
                <a:latin typeface="Canva Sans"/>
                <a:ea typeface="Canva Sans"/>
                <a:cs typeface="Canva Sans"/>
                <a:sym typeface="Canva Sans"/>
              </a:rPr>
              <a:t>CMYK</a:t>
            </a:r>
          </a:p>
          <a:p>
            <a:pPr marL="0" lvl="0" indent="0" algn="l">
              <a:lnSpc>
                <a:spcPts val="1800"/>
              </a:lnSpc>
            </a:pPr>
            <a:r>
              <a:rPr lang="en-US" sz="1800" spc="90">
                <a:solidFill>
                  <a:srgbClr val="FFFFFF"/>
                </a:solidFill>
                <a:latin typeface="Canva Sans"/>
                <a:ea typeface="Canva Sans"/>
                <a:cs typeface="Canva Sans"/>
                <a:sym typeface="Canva Sans"/>
              </a:rPr>
              <a:t>Hex</a:t>
            </a:r>
          </a:p>
        </p:txBody>
      </p:sp>
      <p:sp>
        <p:nvSpPr>
          <p:cNvPr id="44" name="TextBox 44"/>
          <p:cNvSpPr txBox="1"/>
          <p:nvPr/>
        </p:nvSpPr>
        <p:spPr>
          <a:xfrm>
            <a:off x="7843330" y="8412386"/>
            <a:ext cx="1259730" cy="693420"/>
          </a:xfrm>
          <a:prstGeom prst="rect">
            <a:avLst/>
          </a:prstGeom>
        </p:spPr>
        <p:txBody>
          <a:bodyPr lIns="0" tIns="0" rIns="0" bIns="0" rtlCol="0" anchor="t">
            <a:spAutoFit/>
          </a:bodyPr>
          <a:lstStyle/>
          <a:p>
            <a:pPr algn="l">
              <a:lnSpc>
                <a:spcPts val="1800"/>
              </a:lnSpc>
            </a:pPr>
            <a:r>
              <a:rPr lang="en-US" sz="1800" spc="90" dirty="0">
                <a:solidFill>
                  <a:srgbClr val="FFFFFF"/>
                </a:solidFill>
                <a:latin typeface="Canva Sans"/>
                <a:ea typeface="Canva Sans"/>
                <a:cs typeface="Canva Sans"/>
                <a:sym typeface="Canva Sans"/>
              </a:rPr>
              <a:t>RGB</a:t>
            </a:r>
          </a:p>
          <a:p>
            <a:pPr algn="l">
              <a:lnSpc>
                <a:spcPts val="1800"/>
              </a:lnSpc>
            </a:pPr>
            <a:r>
              <a:rPr lang="en-US" sz="1800" spc="90" dirty="0">
                <a:solidFill>
                  <a:srgbClr val="FFFFFF"/>
                </a:solidFill>
                <a:latin typeface="Canva Sans"/>
                <a:ea typeface="Canva Sans"/>
                <a:cs typeface="Canva Sans"/>
                <a:sym typeface="Canva Sans"/>
              </a:rPr>
              <a:t>CMY</a:t>
            </a:r>
          </a:p>
          <a:p>
            <a:pPr marL="0" lvl="0" indent="0" algn="l">
              <a:lnSpc>
                <a:spcPts val="1800"/>
              </a:lnSpc>
            </a:pPr>
            <a:r>
              <a:rPr lang="en-US" sz="1800" spc="90" dirty="0">
                <a:solidFill>
                  <a:srgbClr val="FFFFFF"/>
                </a:solidFill>
                <a:latin typeface="Canva Sans"/>
                <a:ea typeface="Canva Sans"/>
                <a:cs typeface="Canva Sans"/>
                <a:sym typeface="Canva Sans"/>
              </a:rPr>
              <a:t>Hex</a:t>
            </a:r>
          </a:p>
        </p:txBody>
      </p:sp>
      <p:sp>
        <p:nvSpPr>
          <p:cNvPr id="45" name="TextBox 45"/>
          <p:cNvSpPr txBox="1"/>
          <p:nvPr/>
        </p:nvSpPr>
        <p:spPr>
          <a:xfrm>
            <a:off x="11437192" y="8084174"/>
            <a:ext cx="1259730" cy="925830"/>
          </a:xfrm>
          <a:prstGeom prst="rect">
            <a:avLst/>
          </a:prstGeom>
        </p:spPr>
        <p:txBody>
          <a:bodyPr lIns="0" tIns="0" rIns="0" bIns="0" rtlCol="0" anchor="t">
            <a:spAutoFit/>
          </a:bodyPr>
          <a:lstStyle/>
          <a:p>
            <a:pPr algn="l">
              <a:lnSpc>
                <a:spcPts val="2520"/>
              </a:lnSpc>
            </a:pPr>
            <a:r>
              <a:rPr lang="en-US" sz="1800" spc="90">
                <a:solidFill>
                  <a:srgbClr val="FFFFFF"/>
                </a:solidFill>
                <a:latin typeface="Canva Sans"/>
                <a:ea typeface="Canva Sans"/>
                <a:cs typeface="Canva Sans"/>
                <a:sym typeface="Canva Sans"/>
              </a:rPr>
              <a:t>RGB</a:t>
            </a:r>
          </a:p>
          <a:p>
            <a:pPr algn="l">
              <a:lnSpc>
                <a:spcPts val="2520"/>
              </a:lnSpc>
            </a:pPr>
            <a:r>
              <a:rPr lang="en-US" sz="1800" spc="90">
                <a:solidFill>
                  <a:srgbClr val="FFFFFF"/>
                </a:solidFill>
                <a:latin typeface="Canva Sans"/>
                <a:ea typeface="Canva Sans"/>
                <a:cs typeface="Canva Sans"/>
                <a:sym typeface="Canva Sans"/>
              </a:rPr>
              <a:t>CMYK</a:t>
            </a:r>
          </a:p>
          <a:p>
            <a:pPr marL="0" lvl="0" indent="0" algn="l">
              <a:lnSpc>
                <a:spcPts val="2520"/>
              </a:lnSpc>
            </a:pPr>
            <a:r>
              <a:rPr lang="en-US" sz="1800" spc="90">
                <a:solidFill>
                  <a:srgbClr val="FFFFFF"/>
                </a:solidFill>
                <a:latin typeface="Canva Sans"/>
                <a:ea typeface="Canva Sans"/>
                <a:cs typeface="Canva Sans"/>
                <a:sym typeface="Canva Sans"/>
              </a:rPr>
              <a:t>Hex</a:t>
            </a:r>
          </a:p>
        </p:txBody>
      </p:sp>
      <p:sp>
        <p:nvSpPr>
          <p:cNvPr id="46" name="TextBox 46"/>
          <p:cNvSpPr txBox="1"/>
          <p:nvPr/>
        </p:nvSpPr>
        <p:spPr>
          <a:xfrm>
            <a:off x="14216770" y="8084174"/>
            <a:ext cx="1259730" cy="925830"/>
          </a:xfrm>
          <a:prstGeom prst="rect">
            <a:avLst/>
          </a:prstGeom>
        </p:spPr>
        <p:txBody>
          <a:bodyPr lIns="0" tIns="0" rIns="0" bIns="0" rtlCol="0" anchor="t">
            <a:spAutoFit/>
          </a:bodyPr>
          <a:lstStyle/>
          <a:p>
            <a:pPr algn="l">
              <a:lnSpc>
                <a:spcPts val="2520"/>
              </a:lnSpc>
            </a:pPr>
            <a:r>
              <a:rPr lang="en-US" sz="1800" spc="90">
                <a:solidFill>
                  <a:srgbClr val="FFFFFF"/>
                </a:solidFill>
                <a:latin typeface="Canva Sans"/>
                <a:ea typeface="Canva Sans"/>
                <a:cs typeface="Canva Sans"/>
                <a:sym typeface="Canva Sans"/>
              </a:rPr>
              <a:t>RGB</a:t>
            </a:r>
          </a:p>
          <a:p>
            <a:pPr algn="l">
              <a:lnSpc>
                <a:spcPts val="2520"/>
              </a:lnSpc>
            </a:pPr>
            <a:r>
              <a:rPr lang="en-US" sz="1800" spc="90">
                <a:solidFill>
                  <a:srgbClr val="FFFFFF"/>
                </a:solidFill>
                <a:latin typeface="Canva Sans"/>
                <a:ea typeface="Canva Sans"/>
                <a:cs typeface="Canva Sans"/>
                <a:sym typeface="Canva Sans"/>
              </a:rPr>
              <a:t>CMYK</a:t>
            </a:r>
          </a:p>
          <a:p>
            <a:pPr marL="0" lvl="0" indent="0" algn="l">
              <a:lnSpc>
                <a:spcPts val="2520"/>
              </a:lnSpc>
            </a:pPr>
            <a:r>
              <a:rPr lang="en-US" sz="1800" spc="90">
                <a:solidFill>
                  <a:srgbClr val="FFFFFF"/>
                </a:solidFill>
                <a:latin typeface="Canva Sans"/>
                <a:ea typeface="Canva Sans"/>
                <a:cs typeface="Canva Sans"/>
                <a:sym typeface="Canva Sans"/>
              </a:rPr>
              <a:t>Hex</a:t>
            </a:r>
          </a:p>
        </p:txBody>
      </p:sp>
      <p:sp>
        <p:nvSpPr>
          <p:cNvPr id="49" name="TextBox 49"/>
          <p:cNvSpPr txBox="1"/>
          <p:nvPr/>
        </p:nvSpPr>
        <p:spPr>
          <a:xfrm>
            <a:off x="2168803" y="1731679"/>
            <a:ext cx="4099433" cy="432747"/>
          </a:xfrm>
          <a:prstGeom prst="rect">
            <a:avLst/>
          </a:prstGeom>
        </p:spPr>
        <p:txBody>
          <a:bodyPr lIns="0" tIns="0" rIns="0" bIns="0" rtlCol="0" anchor="t">
            <a:spAutoFit/>
          </a:bodyPr>
          <a:lstStyle/>
          <a:p>
            <a:pPr algn="ctr">
              <a:lnSpc>
                <a:spcPts val="3299"/>
              </a:lnSpc>
            </a:pPr>
            <a:r>
              <a:rPr lang="en-US" sz="2999" dirty="0">
                <a:solidFill>
                  <a:srgbClr val="17022B"/>
                </a:solidFill>
                <a:latin typeface="League Spartan"/>
                <a:ea typeface="League Spartan"/>
                <a:cs typeface="League Spartan"/>
                <a:sym typeface="League Spartan"/>
              </a:rPr>
              <a:t>Regions </a:t>
            </a:r>
          </a:p>
        </p:txBody>
      </p:sp>
      <p:sp>
        <p:nvSpPr>
          <p:cNvPr id="11" name="Rectangle 10">
            <a:extLst>
              <a:ext uri="{FF2B5EF4-FFF2-40B4-BE49-F238E27FC236}">
                <a16:creationId xmlns:a16="http://schemas.microsoft.com/office/drawing/2014/main" id="{765CDAFF-9347-8C66-9DD2-A0888EEE9B3F}"/>
              </a:ext>
            </a:extLst>
          </p:cNvPr>
          <p:cNvSpPr/>
          <p:nvPr/>
        </p:nvSpPr>
        <p:spPr>
          <a:xfrm>
            <a:off x="8496898" y="1109514"/>
            <a:ext cx="9791101" cy="9177486"/>
          </a:xfrm>
          <a:prstGeom prst="rect">
            <a:avLst/>
          </a:prstGeom>
          <a:solidFill>
            <a:srgbClr val="3E1B59"/>
          </a:solidFill>
          <a:ln>
            <a:solidFill>
              <a:srgbClr val="3E1B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13">
            <a:extLst>
              <a:ext uri="{FF2B5EF4-FFF2-40B4-BE49-F238E27FC236}">
                <a16:creationId xmlns:a16="http://schemas.microsoft.com/office/drawing/2014/main" id="{69803863-BB7D-C581-6643-8DB88E5E1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7482" y="1998911"/>
            <a:ext cx="9420517" cy="7868989"/>
          </a:xfrm>
          <a:prstGeom prst="rect">
            <a:avLst/>
          </a:prstGeom>
        </p:spPr>
      </p:pic>
      <p:sp>
        <p:nvSpPr>
          <p:cNvPr id="47" name="TextBox 47"/>
          <p:cNvSpPr txBox="1"/>
          <p:nvPr/>
        </p:nvSpPr>
        <p:spPr>
          <a:xfrm>
            <a:off x="10506634" y="1433182"/>
            <a:ext cx="6142211" cy="432747"/>
          </a:xfrm>
          <a:prstGeom prst="rect">
            <a:avLst/>
          </a:prstGeom>
        </p:spPr>
        <p:txBody>
          <a:bodyPr lIns="0" tIns="0" rIns="0" bIns="0" rtlCol="0" anchor="t">
            <a:spAutoFit/>
          </a:bodyPr>
          <a:lstStyle/>
          <a:p>
            <a:pPr algn="ctr">
              <a:lnSpc>
                <a:spcPts val="3299"/>
              </a:lnSpc>
            </a:pPr>
            <a:r>
              <a:rPr lang="en-US" sz="2999" dirty="0">
                <a:solidFill>
                  <a:schemeClr val="bg1"/>
                </a:solidFill>
                <a:latin typeface="League Spartan"/>
                <a:ea typeface="League Spartan"/>
                <a:cs typeface="League Spartan"/>
                <a:sym typeface="League Spartan"/>
              </a:rPr>
              <a:t>All Views</a:t>
            </a:r>
          </a:p>
        </p:txBody>
      </p:sp>
      <p:pic>
        <p:nvPicPr>
          <p:cNvPr id="16" name="Picture 15">
            <a:extLst>
              <a:ext uri="{FF2B5EF4-FFF2-40B4-BE49-F238E27FC236}">
                <a16:creationId xmlns:a16="http://schemas.microsoft.com/office/drawing/2014/main" id="{2EF1F35B-BE46-E747-176F-6C8D41CC82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59" y="2950902"/>
            <a:ext cx="8510754" cy="45481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20" name="TextBox 20"/>
          <p:cNvSpPr txBox="1"/>
          <p:nvPr/>
        </p:nvSpPr>
        <p:spPr>
          <a:xfrm>
            <a:off x="5981700" y="-495300"/>
            <a:ext cx="5715000" cy="1125308"/>
          </a:xfrm>
          <a:prstGeom prst="rect">
            <a:avLst/>
          </a:prstGeom>
        </p:spPr>
        <p:txBody>
          <a:bodyPr wrap="square" lIns="0" tIns="0" rIns="0" bIns="0" rtlCol="0" anchor="t">
            <a:spAutoFit/>
          </a:bodyPr>
          <a:lstStyle/>
          <a:p>
            <a:pPr algn="ctr">
              <a:lnSpc>
                <a:spcPts val="10120"/>
              </a:lnSpc>
            </a:pPr>
            <a:r>
              <a:rPr lang="en-US" sz="4000" dirty="0">
                <a:solidFill>
                  <a:srgbClr val="000000"/>
                </a:solidFill>
                <a:latin typeface="League Spartan"/>
                <a:ea typeface="League Spartan"/>
                <a:cs typeface="League Spartan"/>
                <a:sym typeface="League Spartan"/>
              </a:rPr>
              <a:t>Home Page</a:t>
            </a:r>
          </a:p>
        </p:txBody>
      </p:sp>
      <p:pic>
        <p:nvPicPr>
          <p:cNvPr id="32" name="Picture 31">
            <a:extLst>
              <a:ext uri="{FF2B5EF4-FFF2-40B4-BE49-F238E27FC236}">
                <a16:creationId xmlns:a16="http://schemas.microsoft.com/office/drawing/2014/main" id="{3DBF4C23-7322-ECA0-1F23-DCC3AF975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800100"/>
            <a:ext cx="18135600" cy="9334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a:extLst>
            <a:ext uri="{FF2B5EF4-FFF2-40B4-BE49-F238E27FC236}">
              <a16:creationId xmlns:a16="http://schemas.microsoft.com/office/drawing/2014/main" id="{4C4FF95E-D335-2E15-64F3-A64EF851556A}"/>
            </a:ext>
          </a:extLst>
        </p:cNvPr>
        <p:cNvGrpSpPr/>
        <p:nvPr/>
      </p:nvGrpSpPr>
      <p:grpSpPr>
        <a:xfrm>
          <a:off x="0" y="0"/>
          <a:ext cx="0" cy="0"/>
          <a:chOff x="0" y="0"/>
          <a:chExt cx="0" cy="0"/>
        </a:xfrm>
      </p:grpSpPr>
      <p:graphicFrame>
        <p:nvGraphicFramePr>
          <p:cNvPr id="19" name="Table 19">
            <a:extLst>
              <a:ext uri="{FF2B5EF4-FFF2-40B4-BE49-F238E27FC236}">
                <a16:creationId xmlns:a16="http://schemas.microsoft.com/office/drawing/2014/main" id="{0C191608-811B-DF0D-6C8F-EED307526FC0}"/>
              </a:ext>
            </a:extLst>
          </p:cNvPr>
          <p:cNvGraphicFramePr>
            <a:graphicFrameLocks noGrp="1"/>
          </p:cNvGraphicFramePr>
          <p:nvPr/>
        </p:nvGraphicFramePr>
        <p:xfrm>
          <a:off x="12601300" y="3425995"/>
          <a:ext cx="4523232" cy="3912067"/>
        </p:xfrm>
        <a:graphic>
          <a:graphicData uri="http://schemas.openxmlformats.org/drawingml/2006/table">
            <a:tbl>
              <a:tblPr/>
              <a:tblGrid>
                <a:gridCol w="1507744">
                  <a:extLst>
                    <a:ext uri="{9D8B030D-6E8A-4147-A177-3AD203B41FA5}">
                      <a16:colId xmlns:a16="http://schemas.microsoft.com/office/drawing/2014/main" val="20000"/>
                    </a:ext>
                  </a:extLst>
                </a:gridCol>
                <a:gridCol w="1507744">
                  <a:extLst>
                    <a:ext uri="{9D8B030D-6E8A-4147-A177-3AD203B41FA5}">
                      <a16:colId xmlns:a16="http://schemas.microsoft.com/office/drawing/2014/main" val="20001"/>
                    </a:ext>
                  </a:extLst>
                </a:gridCol>
                <a:gridCol w="1507744">
                  <a:extLst>
                    <a:ext uri="{9D8B030D-6E8A-4147-A177-3AD203B41FA5}">
                      <a16:colId xmlns:a16="http://schemas.microsoft.com/office/drawing/2014/main" val="20002"/>
                    </a:ext>
                  </a:extLst>
                </a:gridCol>
              </a:tblGrid>
              <a:tr h="977813">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8628">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7813">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7813">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 name="TextBox 20">
            <a:extLst>
              <a:ext uri="{FF2B5EF4-FFF2-40B4-BE49-F238E27FC236}">
                <a16:creationId xmlns:a16="http://schemas.microsoft.com/office/drawing/2014/main" id="{DBC863E9-1717-B333-628C-6A5322B3D715}"/>
              </a:ext>
            </a:extLst>
          </p:cNvPr>
          <p:cNvSpPr txBox="1"/>
          <p:nvPr/>
        </p:nvSpPr>
        <p:spPr>
          <a:xfrm>
            <a:off x="5562600" y="-266700"/>
            <a:ext cx="5410200" cy="1125308"/>
          </a:xfrm>
          <a:prstGeom prst="rect">
            <a:avLst/>
          </a:prstGeom>
        </p:spPr>
        <p:txBody>
          <a:bodyPr wrap="square" lIns="0" tIns="0" rIns="0" bIns="0" rtlCol="0" anchor="t">
            <a:spAutoFit/>
          </a:bodyPr>
          <a:lstStyle/>
          <a:p>
            <a:pPr algn="ctr">
              <a:lnSpc>
                <a:spcPts val="10120"/>
              </a:lnSpc>
            </a:pPr>
            <a:r>
              <a:rPr lang="en-US" sz="4000" dirty="0">
                <a:solidFill>
                  <a:srgbClr val="000000"/>
                </a:solidFill>
                <a:latin typeface="League Spartan"/>
                <a:ea typeface="League Spartan"/>
                <a:cs typeface="League Spartan"/>
                <a:sym typeface="League Spartan"/>
              </a:rPr>
              <a:t>Finance View</a:t>
            </a:r>
          </a:p>
        </p:txBody>
      </p:sp>
      <p:pic>
        <p:nvPicPr>
          <p:cNvPr id="3" name="Picture 2">
            <a:extLst>
              <a:ext uri="{FF2B5EF4-FFF2-40B4-BE49-F238E27FC236}">
                <a16:creationId xmlns:a16="http://schemas.microsoft.com/office/drawing/2014/main" id="{D6F6EE73-3259-A061-A3F7-CEDE91AB21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8608"/>
            <a:ext cx="18135600" cy="9314092"/>
          </a:xfrm>
          <a:prstGeom prst="rect">
            <a:avLst/>
          </a:prstGeom>
        </p:spPr>
      </p:pic>
    </p:spTree>
    <p:extLst>
      <p:ext uri="{BB962C8B-B14F-4D97-AF65-F5344CB8AC3E}">
        <p14:creationId xmlns:p14="http://schemas.microsoft.com/office/powerpoint/2010/main" val="3808879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a:extLst>
            <a:ext uri="{FF2B5EF4-FFF2-40B4-BE49-F238E27FC236}">
              <a16:creationId xmlns:a16="http://schemas.microsoft.com/office/drawing/2014/main" id="{DB614123-686A-EA13-8B73-CD4EBEFD828F}"/>
            </a:ext>
          </a:extLst>
        </p:cNvPr>
        <p:cNvGrpSpPr/>
        <p:nvPr/>
      </p:nvGrpSpPr>
      <p:grpSpPr>
        <a:xfrm>
          <a:off x="0" y="0"/>
          <a:ext cx="0" cy="0"/>
          <a:chOff x="0" y="0"/>
          <a:chExt cx="0" cy="0"/>
        </a:xfrm>
      </p:grpSpPr>
      <p:graphicFrame>
        <p:nvGraphicFramePr>
          <p:cNvPr id="19" name="Table 19">
            <a:extLst>
              <a:ext uri="{FF2B5EF4-FFF2-40B4-BE49-F238E27FC236}">
                <a16:creationId xmlns:a16="http://schemas.microsoft.com/office/drawing/2014/main" id="{3E766EBA-7822-1DE0-E925-30F2EB1EFE6D}"/>
              </a:ext>
            </a:extLst>
          </p:cNvPr>
          <p:cNvGraphicFramePr>
            <a:graphicFrameLocks noGrp="1"/>
          </p:cNvGraphicFramePr>
          <p:nvPr/>
        </p:nvGraphicFramePr>
        <p:xfrm>
          <a:off x="12601300" y="3425995"/>
          <a:ext cx="4523232" cy="3912067"/>
        </p:xfrm>
        <a:graphic>
          <a:graphicData uri="http://schemas.openxmlformats.org/drawingml/2006/table">
            <a:tbl>
              <a:tblPr/>
              <a:tblGrid>
                <a:gridCol w="1507744">
                  <a:extLst>
                    <a:ext uri="{9D8B030D-6E8A-4147-A177-3AD203B41FA5}">
                      <a16:colId xmlns:a16="http://schemas.microsoft.com/office/drawing/2014/main" val="20000"/>
                    </a:ext>
                  </a:extLst>
                </a:gridCol>
                <a:gridCol w="1507744">
                  <a:extLst>
                    <a:ext uri="{9D8B030D-6E8A-4147-A177-3AD203B41FA5}">
                      <a16:colId xmlns:a16="http://schemas.microsoft.com/office/drawing/2014/main" val="20001"/>
                    </a:ext>
                  </a:extLst>
                </a:gridCol>
                <a:gridCol w="1507744">
                  <a:extLst>
                    <a:ext uri="{9D8B030D-6E8A-4147-A177-3AD203B41FA5}">
                      <a16:colId xmlns:a16="http://schemas.microsoft.com/office/drawing/2014/main" val="20002"/>
                    </a:ext>
                  </a:extLst>
                </a:gridCol>
              </a:tblGrid>
              <a:tr h="977813">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8628">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7813">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7813">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4200"/>
                        </a:lnSpc>
                        <a:defRPr/>
                      </a:pPr>
                      <a:endParaRPr lang="en-US" sz="1100" dirty="0"/>
                    </a:p>
                  </a:txBody>
                  <a:tcPr marL="130489" marR="130489" marT="130489" marB="130489"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 name="TextBox 20">
            <a:extLst>
              <a:ext uri="{FF2B5EF4-FFF2-40B4-BE49-F238E27FC236}">
                <a16:creationId xmlns:a16="http://schemas.microsoft.com/office/drawing/2014/main" id="{1806AD9A-A821-8F1A-A304-EF0D4301CE24}"/>
              </a:ext>
            </a:extLst>
          </p:cNvPr>
          <p:cNvSpPr txBox="1"/>
          <p:nvPr/>
        </p:nvSpPr>
        <p:spPr>
          <a:xfrm>
            <a:off x="5410200" y="-203534"/>
            <a:ext cx="6172200" cy="1125308"/>
          </a:xfrm>
          <a:prstGeom prst="rect">
            <a:avLst/>
          </a:prstGeom>
        </p:spPr>
        <p:txBody>
          <a:bodyPr wrap="square" lIns="0" tIns="0" rIns="0" bIns="0" rtlCol="0" anchor="t">
            <a:spAutoFit/>
          </a:bodyPr>
          <a:lstStyle/>
          <a:p>
            <a:pPr algn="ctr">
              <a:lnSpc>
                <a:spcPts val="10120"/>
              </a:lnSpc>
            </a:pPr>
            <a:r>
              <a:rPr lang="en-US" sz="4000" dirty="0">
                <a:solidFill>
                  <a:srgbClr val="000000"/>
                </a:solidFill>
                <a:latin typeface="League Spartan"/>
                <a:ea typeface="League Spartan"/>
                <a:cs typeface="League Spartan"/>
                <a:sym typeface="League Spartan"/>
              </a:rPr>
              <a:t>Sales View</a:t>
            </a:r>
          </a:p>
        </p:txBody>
      </p:sp>
      <p:pic>
        <p:nvPicPr>
          <p:cNvPr id="3" name="Picture 2">
            <a:extLst>
              <a:ext uri="{FF2B5EF4-FFF2-40B4-BE49-F238E27FC236}">
                <a16:creationId xmlns:a16="http://schemas.microsoft.com/office/drawing/2014/main" id="{73E488FF-22CC-252F-6CD3-8D7F76107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921774"/>
            <a:ext cx="18135600" cy="9167352"/>
          </a:xfrm>
          <a:prstGeom prst="rect">
            <a:avLst/>
          </a:prstGeom>
        </p:spPr>
      </p:pic>
    </p:spTree>
    <p:extLst>
      <p:ext uri="{BB962C8B-B14F-4D97-AF65-F5344CB8AC3E}">
        <p14:creationId xmlns:p14="http://schemas.microsoft.com/office/powerpoint/2010/main" val="400269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20" name="TextBox 20"/>
          <p:cNvSpPr txBox="1"/>
          <p:nvPr/>
        </p:nvSpPr>
        <p:spPr>
          <a:xfrm>
            <a:off x="6553200" y="-419100"/>
            <a:ext cx="4648200" cy="1125308"/>
          </a:xfrm>
          <a:prstGeom prst="rect">
            <a:avLst/>
          </a:prstGeom>
        </p:spPr>
        <p:txBody>
          <a:bodyPr wrap="square" lIns="0" tIns="0" rIns="0" bIns="0" rtlCol="0" anchor="t">
            <a:spAutoFit/>
          </a:bodyPr>
          <a:lstStyle/>
          <a:p>
            <a:pPr algn="ctr">
              <a:lnSpc>
                <a:spcPts val="10120"/>
              </a:lnSpc>
            </a:pPr>
            <a:r>
              <a:rPr lang="en-US" sz="4000" dirty="0">
                <a:solidFill>
                  <a:srgbClr val="000000"/>
                </a:solidFill>
                <a:latin typeface="League Spartan"/>
                <a:ea typeface="League Spartan"/>
                <a:cs typeface="League Spartan"/>
                <a:sym typeface="League Spartan"/>
              </a:rPr>
              <a:t>Marketing View</a:t>
            </a:r>
          </a:p>
        </p:txBody>
      </p:sp>
      <p:pic>
        <p:nvPicPr>
          <p:cNvPr id="35" name="Picture 34">
            <a:extLst>
              <a:ext uri="{FF2B5EF4-FFF2-40B4-BE49-F238E27FC236}">
                <a16:creationId xmlns:a16="http://schemas.microsoft.com/office/drawing/2014/main" id="{9975A4ED-611D-5C35-E28C-B7E6A15387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06208"/>
            <a:ext cx="18287999" cy="958079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2" name="Freeform 2"/>
          <p:cNvSpPr/>
          <p:nvPr/>
        </p:nvSpPr>
        <p:spPr>
          <a:xfrm>
            <a:off x="11358447" y="8874126"/>
            <a:ext cx="6268063" cy="712992"/>
          </a:xfrm>
          <a:custGeom>
            <a:avLst/>
            <a:gdLst/>
            <a:ahLst/>
            <a:cxnLst/>
            <a:rect l="l" t="t" r="r" b="b"/>
            <a:pathLst>
              <a:path w="6268063" h="712992">
                <a:moveTo>
                  <a:pt x="0" y="0"/>
                </a:moveTo>
                <a:lnTo>
                  <a:pt x="6268063" y="0"/>
                </a:lnTo>
                <a:lnTo>
                  <a:pt x="6268063" y="712992"/>
                </a:lnTo>
                <a:lnTo>
                  <a:pt x="0" y="712992"/>
                </a:lnTo>
                <a:lnTo>
                  <a:pt x="0" y="0"/>
                </a:lnTo>
                <a:close/>
              </a:path>
            </a:pathLst>
          </a:custGeom>
          <a:blipFill>
            <a:blip r:embed="rId2"/>
            <a:stretch>
              <a:fillRect/>
            </a:stretch>
          </a:blipFill>
        </p:spPr>
      </p:sp>
      <p:sp>
        <p:nvSpPr>
          <p:cNvPr id="18" name="Freeform 18"/>
          <p:cNvSpPr/>
          <p:nvPr/>
        </p:nvSpPr>
        <p:spPr>
          <a:xfrm rot="5400000" flipH="1">
            <a:off x="3309040" y="2767117"/>
            <a:ext cx="2251770" cy="3151332"/>
          </a:xfrm>
          <a:custGeom>
            <a:avLst/>
            <a:gdLst/>
            <a:ahLst/>
            <a:cxnLst/>
            <a:rect l="l" t="t" r="r" b="b"/>
            <a:pathLst>
              <a:path w="2251770" h="3151332">
                <a:moveTo>
                  <a:pt x="2251770" y="0"/>
                </a:moveTo>
                <a:lnTo>
                  <a:pt x="0" y="0"/>
                </a:lnTo>
                <a:lnTo>
                  <a:pt x="0" y="3151332"/>
                </a:lnTo>
                <a:lnTo>
                  <a:pt x="2251770" y="3151332"/>
                </a:lnTo>
                <a:lnTo>
                  <a:pt x="2251770" y="0"/>
                </a:lnTo>
                <a:close/>
              </a:path>
            </a:pathLst>
          </a:custGeom>
          <a:blipFill>
            <a:blip r:embed="rId3">
              <a:alphaModFix amt="9999"/>
              <a:extLst>
                <a:ext uri="{96DAC541-7B7A-43D3-8B79-37D633B846F1}">
                  <asvg:svgBlip xmlns:asvg="http://schemas.microsoft.com/office/drawing/2016/SVG/main" r:embed="rId4"/>
                </a:ext>
              </a:extLst>
            </a:blip>
            <a:stretch>
              <a:fillRect t="-29066" r="-29066"/>
            </a:stretch>
          </a:blipFill>
        </p:spPr>
      </p:sp>
      <p:sp>
        <p:nvSpPr>
          <p:cNvPr id="19" name="Freeform 19"/>
          <p:cNvSpPr/>
          <p:nvPr/>
        </p:nvSpPr>
        <p:spPr>
          <a:xfrm rot="5400000" flipH="1">
            <a:off x="3309040" y="5918034"/>
            <a:ext cx="2251770" cy="3151332"/>
          </a:xfrm>
          <a:custGeom>
            <a:avLst/>
            <a:gdLst/>
            <a:ahLst/>
            <a:cxnLst/>
            <a:rect l="l" t="t" r="r" b="b"/>
            <a:pathLst>
              <a:path w="2251770" h="3151332">
                <a:moveTo>
                  <a:pt x="2251770" y="0"/>
                </a:moveTo>
                <a:lnTo>
                  <a:pt x="0" y="0"/>
                </a:lnTo>
                <a:lnTo>
                  <a:pt x="0" y="3151332"/>
                </a:lnTo>
                <a:lnTo>
                  <a:pt x="2251770" y="3151332"/>
                </a:lnTo>
                <a:lnTo>
                  <a:pt x="2251770" y="0"/>
                </a:lnTo>
                <a:close/>
              </a:path>
            </a:pathLst>
          </a:custGeom>
          <a:blipFill>
            <a:blip r:embed="rId3">
              <a:alphaModFix amt="9999"/>
              <a:extLst>
                <a:ext uri="{96DAC541-7B7A-43D3-8B79-37D633B846F1}">
                  <asvg:svgBlip xmlns:asvg="http://schemas.microsoft.com/office/drawing/2016/SVG/main" r:embed="rId4"/>
                </a:ext>
              </a:extLst>
            </a:blip>
            <a:stretch>
              <a:fillRect t="-29066" r="-29066"/>
            </a:stretch>
          </a:blipFill>
        </p:spPr>
      </p:sp>
      <p:sp>
        <p:nvSpPr>
          <p:cNvPr id="20" name="Freeform 20"/>
          <p:cNvSpPr/>
          <p:nvPr/>
        </p:nvSpPr>
        <p:spPr>
          <a:xfrm rot="5400000" flipH="1">
            <a:off x="3049887" y="3652813"/>
            <a:ext cx="954353" cy="1335608"/>
          </a:xfrm>
          <a:custGeom>
            <a:avLst/>
            <a:gdLst/>
            <a:ahLst/>
            <a:cxnLst/>
            <a:rect l="l" t="t" r="r" b="b"/>
            <a:pathLst>
              <a:path w="954353" h="1335608">
                <a:moveTo>
                  <a:pt x="954353" y="0"/>
                </a:moveTo>
                <a:lnTo>
                  <a:pt x="0" y="0"/>
                </a:lnTo>
                <a:lnTo>
                  <a:pt x="0" y="1335608"/>
                </a:lnTo>
                <a:lnTo>
                  <a:pt x="954353" y="1335608"/>
                </a:lnTo>
                <a:lnTo>
                  <a:pt x="95435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rot="5400000" flipH="1">
            <a:off x="3049887" y="6803730"/>
            <a:ext cx="954353" cy="1335608"/>
          </a:xfrm>
          <a:custGeom>
            <a:avLst/>
            <a:gdLst/>
            <a:ahLst/>
            <a:cxnLst/>
            <a:rect l="l" t="t" r="r" b="b"/>
            <a:pathLst>
              <a:path w="954353" h="1335608">
                <a:moveTo>
                  <a:pt x="954353" y="0"/>
                </a:moveTo>
                <a:lnTo>
                  <a:pt x="0" y="0"/>
                </a:lnTo>
                <a:lnTo>
                  <a:pt x="0" y="1335608"/>
                </a:lnTo>
                <a:lnTo>
                  <a:pt x="954353" y="1335608"/>
                </a:lnTo>
                <a:lnTo>
                  <a:pt x="95435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5"/>
          <p:cNvSpPr/>
          <p:nvPr/>
        </p:nvSpPr>
        <p:spPr>
          <a:xfrm rot="5400000" flipH="1">
            <a:off x="13930526" y="6158473"/>
            <a:ext cx="943734" cy="1320748"/>
          </a:xfrm>
          <a:custGeom>
            <a:avLst/>
            <a:gdLst/>
            <a:ahLst/>
            <a:cxnLst/>
            <a:rect l="l" t="t" r="r" b="b"/>
            <a:pathLst>
              <a:path w="943734" h="1320748">
                <a:moveTo>
                  <a:pt x="943734" y="0"/>
                </a:moveTo>
                <a:lnTo>
                  <a:pt x="0" y="0"/>
                </a:lnTo>
                <a:lnTo>
                  <a:pt x="0" y="1320748"/>
                </a:lnTo>
                <a:lnTo>
                  <a:pt x="943734" y="1320748"/>
                </a:lnTo>
                <a:lnTo>
                  <a:pt x="943734"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TextBox 27"/>
          <p:cNvSpPr txBox="1"/>
          <p:nvPr/>
        </p:nvSpPr>
        <p:spPr>
          <a:xfrm>
            <a:off x="6496050" y="-425426"/>
            <a:ext cx="5295900" cy="1125308"/>
          </a:xfrm>
          <a:prstGeom prst="rect">
            <a:avLst/>
          </a:prstGeom>
        </p:spPr>
        <p:txBody>
          <a:bodyPr wrap="square" lIns="0" tIns="0" rIns="0" bIns="0" rtlCol="0" anchor="t">
            <a:spAutoFit/>
          </a:bodyPr>
          <a:lstStyle/>
          <a:p>
            <a:pPr algn="ctr">
              <a:lnSpc>
                <a:spcPts val="10120"/>
              </a:lnSpc>
            </a:pPr>
            <a:r>
              <a:rPr lang="en-US" sz="4000" dirty="0">
                <a:solidFill>
                  <a:srgbClr val="17022B"/>
                </a:solidFill>
                <a:latin typeface="League Spartan"/>
                <a:ea typeface="League Spartan"/>
                <a:cs typeface="League Spartan"/>
                <a:sym typeface="League Spartan"/>
              </a:rPr>
              <a:t>Supply Chain View</a:t>
            </a:r>
          </a:p>
        </p:txBody>
      </p:sp>
      <p:sp>
        <p:nvSpPr>
          <p:cNvPr id="39" name="TextBox 39"/>
          <p:cNvSpPr txBox="1"/>
          <p:nvPr/>
        </p:nvSpPr>
        <p:spPr>
          <a:xfrm>
            <a:off x="2519816" y="4953839"/>
            <a:ext cx="1908555" cy="593867"/>
          </a:xfrm>
          <a:prstGeom prst="rect">
            <a:avLst/>
          </a:prstGeom>
        </p:spPr>
        <p:txBody>
          <a:bodyPr lIns="0" tIns="0" rIns="0" bIns="0" rtlCol="0" anchor="t">
            <a:spAutoFit/>
          </a:bodyPr>
          <a:lstStyle/>
          <a:p>
            <a:pPr marL="0" lvl="0" indent="0" algn="ctr">
              <a:lnSpc>
                <a:spcPts val="2333"/>
              </a:lnSpc>
              <a:spcBef>
                <a:spcPct val="0"/>
              </a:spcBef>
            </a:pPr>
            <a:r>
              <a:rPr lang="en-US" sz="2121">
                <a:solidFill>
                  <a:srgbClr val="FBFAFF"/>
                </a:solidFill>
                <a:latin typeface="League Spartan"/>
                <a:ea typeface="League Spartan"/>
                <a:cs typeface="League Spartan"/>
                <a:sym typeface="League Spartan"/>
              </a:rPr>
              <a:t>WARDIERE </a:t>
            </a:r>
            <a:r>
              <a:rPr lang="en-US" sz="2121" b="1" u="none" strike="noStrike">
                <a:solidFill>
                  <a:srgbClr val="FBFAFF"/>
                </a:solidFill>
                <a:latin typeface="League Spartan"/>
                <a:ea typeface="League Spartan"/>
                <a:cs typeface="League Spartan"/>
                <a:sym typeface="League Spartan"/>
              </a:rPr>
              <a:t>BUSINESS</a:t>
            </a:r>
          </a:p>
        </p:txBody>
      </p:sp>
      <p:sp>
        <p:nvSpPr>
          <p:cNvPr id="40" name="TextBox 40"/>
          <p:cNvSpPr txBox="1"/>
          <p:nvPr/>
        </p:nvSpPr>
        <p:spPr>
          <a:xfrm>
            <a:off x="2519816" y="8104756"/>
            <a:ext cx="1908555" cy="593867"/>
          </a:xfrm>
          <a:prstGeom prst="rect">
            <a:avLst/>
          </a:prstGeom>
        </p:spPr>
        <p:txBody>
          <a:bodyPr lIns="0" tIns="0" rIns="0" bIns="0" rtlCol="0" anchor="t">
            <a:spAutoFit/>
          </a:bodyPr>
          <a:lstStyle/>
          <a:p>
            <a:pPr marL="0" lvl="0" indent="0" algn="ctr">
              <a:lnSpc>
                <a:spcPts val="2333"/>
              </a:lnSpc>
              <a:spcBef>
                <a:spcPct val="0"/>
              </a:spcBef>
            </a:pPr>
            <a:r>
              <a:rPr lang="en-US" sz="2121">
                <a:solidFill>
                  <a:srgbClr val="FBFAFF"/>
                </a:solidFill>
                <a:latin typeface="League Spartan"/>
                <a:ea typeface="League Spartan"/>
                <a:cs typeface="League Spartan"/>
                <a:sym typeface="League Spartan"/>
              </a:rPr>
              <a:t>WARDIERE </a:t>
            </a:r>
            <a:r>
              <a:rPr lang="en-US" sz="2121" b="1" u="none" strike="noStrike">
                <a:solidFill>
                  <a:srgbClr val="FBFAFF"/>
                </a:solidFill>
                <a:latin typeface="League Spartan"/>
                <a:ea typeface="League Spartan"/>
                <a:cs typeface="League Spartan"/>
                <a:sym typeface="League Spartan"/>
              </a:rPr>
              <a:t>BUSINESS</a:t>
            </a:r>
          </a:p>
        </p:txBody>
      </p:sp>
      <p:pic>
        <p:nvPicPr>
          <p:cNvPr id="43" name="Picture 42">
            <a:extLst>
              <a:ext uri="{FF2B5EF4-FFF2-40B4-BE49-F238E27FC236}">
                <a16:creationId xmlns:a16="http://schemas.microsoft.com/office/drawing/2014/main" id="{16BD6F71-46C2-4078-D427-BD487793C1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800100"/>
            <a:ext cx="18287999" cy="9486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a:extLst>
            <a:ext uri="{FF2B5EF4-FFF2-40B4-BE49-F238E27FC236}">
              <a16:creationId xmlns:a16="http://schemas.microsoft.com/office/drawing/2014/main" id="{53111957-7E00-2360-B586-2ABBDF4029A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B9D559F-3626-4664-F50E-1A8C9A40B34F}"/>
              </a:ext>
            </a:extLst>
          </p:cNvPr>
          <p:cNvSpPr/>
          <p:nvPr/>
        </p:nvSpPr>
        <p:spPr>
          <a:xfrm>
            <a:off x="11358447" y="8874126"/>
            <a:ext cx="6268063" cy="712992"/>
          </a:xfrm>
          <a:custGeom>
            <a:avLst/>
            <a:gdLst/>
            <a:ahLst/>
            <a:cxnLst/>
            <a:rect l="l" t="t" r="r" b="b"/>
            <a:pathLst>
              <a:path w="6268063" h="712992">
                <a:moveTo>
                  <a:pt x="0" y="0"/>
                </a:moveTo>
                <a:lnTo>
                  <a:pt x="6268063" y="0"/>
                </a:lnTo>
                <a:lnTo>
                  <a:pt x="6268063" y="712992"/>
                </a:lnTo>
                <a:lnTo>
                  <a:pt x="0" y="712992"/>
                </a:lnTo>
                <a:lnTo>
                  <a:pt x="0" y="0"/>
                </a:lnTo>
                <a:close/>
              </a:path>
            </a:pathLst>
          </a:custGeom>
          <a:blipFill>
            <a:blip r:embed="rId2"/>
            <a:stretch>
              <a:fillRect/>
            </a:stretch>
          </a:blipFill>
        </p:spPr>
      </p:sp>
      <p:sp>
        <p:nvSpPr>
          <p:cNvPr id="18" name="Freeform 18">
            <a:extLst>
              <a:ext uri="{FF2B5EF4-FFF2-40B4-BE49-F238E27FC236}">
                <a16:creationId xmlns:a16="http://schemas.microsoft.com/office/drawing/2014/main" id="{3CF28B61-4552-FA2F-B297-2DC2BEF8D70F}"/>
              </a:ext>
            </a:extLst>
          </p:cNvPr>
          <p:cNvSpPr/>
          <p:nvPr/>
        </p:nvSpPr>
        <p:spPr>
          <a:xfrm rot="5400000" flipH="1">
            <a:off x="3309040" y="2767117"/>
            <a:ext cx="2251770" cy="3151332"/>
          </a:xfrm>
          <a:custGeom>
            <a:avLst/>
            <a:gdLst/>
            <a:ahLst/>
            <a:cxnLst/>
            <a:rect l="l" t="t" r="r" b="b"/>
            <a:pathLst>
              <a:path w="2251770" h="3151332">
                <a:moveTo>
                  <a:pt x="2251770" y="0"/>
                </a:moveTo>
                <a:lnTo>
                  <a:pt x="0" y="0"/>
                </a:lnTo>
                <a:lnTo>
                  <a:pt x="0" y="3151332"/>
                </a:lnTo>
                <a:lnTo>
                  <a:pt x="2251770" y="3151332"/>
                </a:lnTo>
                <a:lnTo>
                  <a:pt x="2251770" y="0"/>
                </a:lnTo>
                <a:close/>
              </a:path>
            </a:pathLst>
          </a:custGeom>
          <a:blipFill>
            <a:blip r:embed="rId3">
              <a:alphaModFix amt="9999"/>
              <a:extLst>
                <a:ext uri="{96DAC541-7B7A-43D3-8B79-37D633B846F1}">
                  <asvg:svgBlip xmlns:asvg="http://schemas.microsoft.com/office/drawing/2016/SVG/main" r:embed="rId4"/>
                </a:ext>
              </a:extLst>
            </a:blip>
            <a:stretch>
              <a:fillRect t="-29066" r="-29066"/>
            </a:stretch>
          </a:blipFill>
        </p:spPr>
      </p:sp>
      <p:sp>
        <p:nvSpPr>
          <p:cNvPr id="19" name="Freeform 19">
            <a:extLst>
              <a:ext uri="{FF2B5EF4-FFF2-40B4-BE49-F238E27FC236}">
                <a16:creationId xmlns:a16="http://schemas.microsoft.com/office/drawing/2014/main" id="{58049AB8-DA54-D231-E9D7-92D53C2AEBB1}"/>
              </a:ext>
            </a:extLst>
          </p:cNvPr>
          <p:cNvSpPr/>
          <p:nvPr/>
        </p:nvSpPr>
        <p:spPr>
          <a:xfrm rot="5400000" flipH="1">
            <a:off x="3309040" y="5918034"/>
            <a:ext cx="2251770" cy="3151332"/>
          </a:xfrm>
          <a:custGeom>
            <a:avLst/>
            <a:gdLst/>
            <a:ahLst/>
            <a:cxnLst/>
            <a:rect l="l" t="t" r="r" b="b"/>
            <a:pathLst>
              <a:path w="2251770" h="3151332">
                <a:moveTo>
                  <a:pt x="2251770" y="0"/>
                </a:moveTo>
                <a:lnTo>
                  <a:pt x="0" y="0"/>
                </a:lnTo>
                <a:lnTo>
                  <a:pt x="0" y="3151332"/>
                </a:lnTo>
                <a:lnTo>
                  <a:pt x="2251770" y="3151332"/>
                </a:lnTo>
                <a:lnTo>
                  <a:pt x="2251770" y="0"/>
                </a:lnTo>
                <a:close/>
              </a:path>
            </a:pathLst>
          </a:custGeom>
          <a:blipFill>
            <a:blip r:embed="rId3">
              <a:alphaModFix amt="9999"/>
              <a:extLst>
                <a:ext uri="{96DAC541-7B7A-43D3-8B79-37D633B846F1}">
                  <asvg:svgBlip xmlns:asvg="http://schemas.microsoft.com/office/drawing/2016/SVG/main" r:embed="rId4"/>
                </a:ext>
              </a:extLst>
            </a:blip>
            <a:stretch>
              <a:fillRect t="-29066" r="-29066"/>
            </a:stretch>
          </a:blipFill>
        </p:spPr>
      </p:sp>
      <p:sp>
        <p:nvSpPr>
          <p:cNvPr id="20" name="Freeform 20">
            <a:extLst>
              <a:ext uri="{FF2B5EF4-FFF2-40B4-BE49-F238E27FC236}">
                <a16:creationId xmlns:a16="http://schemas.microsoft.com/office/drawing/2014/main" id="{C9D937A8-54DD-37BD-0749-5F00EC50180A}"/>
              </a:ext>
            </a:extLst>
          </p:cNvPr>
          <p:cNvSpPr/>
          <p:nvPr/>
        </p:nvSpPr>
        <p:spPr>
          <a:xfrm rot="5400000" flipH="1">
            <a:off x="3049887" y="3652813"/>
            <a:ext cx="954353" cy="1335608"/>
          </a:xfrm>
          <a:custGeom>
            <a:avLst/>
            <a:gdLst/>
            <a:ahLst/>
            <a:cxnLst/>
            <a:rect l="l" t="t" r="r" b="b"/>
            <a:pathLst>
              <a:path w="954353" h="1335608">
                <a:moveTo>
                  <a:pt x="954353" y="0"/>
                </a:moveTo>
                <a:lnTo>
                  <a:pt x="0" y="0"/>
                </a:lnTo>
                <a:lnTo>
                  <a:pt x="0" y="1335608"/>
                </a:lnTo>
                <a:lnTo>
                  <a:pt x="954353" y="1335608"/>
                </a:lnTo>
                <a:lnTo>
                  <a:pt x="95435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a:extLst>
              <a:ext uri="{FF2B5EF4-FFF2-40B4-BE49-F238E27FC236}">
                <a16:creationId xmlns:a16="http://schemas.microsoft.com/office/drawing/2014/main" id="{718574BE-99E0-EAD1-7D5F-A079B7F45B55}"/>
              </a:ext>
            </a:extLst>
          </p:cNvPr>
          <p:cNvSpPr/>
          <p:nvPr/>
        </p:nvSpPr>
        <p:spPr>
          <a:xfrm rot="5400000" flipH="1">
            <a:off x="3049887" y="6803730"/>
            <a:ext cx="954353" cy="1335608"/>
          </a:xfrm>
          <a:custGeom>
            <a:avLst/>
            <a:gdLst/>
            <a:ahLst/>
            <a:cxnLst/>
            <a:rect l="l" t="t" r="r" b="b"/>
            <a:pathLst>
              <a:path w="954353" h="1335608">
                <a:moveTo>
                  <a:pt x="954353" y="0"/>
                </a:moveTo>
                <a:lnTo>
                  <a:pt x="0" y="0"/>
                </a:lnTo>
                <a:lnTo>
                  <a:pt x="0" y="1335608"/>
                </a:lnTo>
                <a:lnTo>
                  <a:pt x="954353" y="1335608"/>
                </a:lnTo>
                <a:lnTo>
                  <a:pt x="95435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5">
            <a:extLst>
              <a:ext uri="{FF2B5EF4-FFF2-40B4-BE49-F238E27FC236}">
                <a16:creationId xmlns:a16="http://schemas.microsoft.com/office/drawing/2014/main" id="{F51E818A-0415-2B49-3567-FBDA3646F4D7}"/>
              </a:ext>
            </a:extLst>
          </p:cNvPr>
          <p:cNvSpPr/>
          <p:nvPr/>
        </p:nvSpPr>
        <p:spPr>
          <a:xfrm rot="5400000" flipH="1">
            <a:off x="13930526" y="6158473"/>
            <a:ext cx="943734" cy="1320748"/>
          </a:xfrm>
          <a:custGeom>
            <a:avLst/>
            <a:gdLst/>
            <a:ahLst/>
            <a:cxnLst/>
            <a:rect l="l" t="t" r="r" b="b"/>
            <a:pathLst>
              <a:path w="943734" h="1320748">
                <a:moveTo>
                  <a:pt x="943734" y="0"/>
                </a:moveTo>
                <a:lnTo>
                  <a:pt x="0" y="0"/>
                </a:lnTo>
                <a:lnTo>
                  <a:pt x="0" y="1320748"/>
                </a:lnTo>
                <a:lnTo>
                  <a:pt x="943734" y="1320748"/>
                </a:lnTo>
                <a:lnTo>
                  <a:pt x="943734"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TextBox 27">
            <a:extLst>
              <a:ext uri="{FF2B5EF4-FFF2-40B4-BE49-F238E27FC236}">
                <a16:creationId xmlns:a16="http://schemas.microsoft.com/office/drawing/2014/main" id="{614D2FE3-9419-3091-447A-EA10329AB6F3}"/>
              </a:ext>
            </a:extLst>
          </p:cNvPr>
          <p:cNvSpPr txBox="1"/>
          <p:nvPr/>
        </p:nvSpPr>
        <p:spPr>
          <a:xfrm>
            <a:off x="6496050" y="-425426"/>
            <a:ext cx="5295900" cy="1125308"/>
          </a:xfrm>
          <a:prstGeom prst="rect">
            <a:avLst/>
          </a:prstGeom>
        </p:spPr>
        <p:txBody>
          <a:bodyPr wrap="square" lIns="0" tIns="0" rIns="0" bIns="0" rtlCol="0" anchor="t">
            <a:spAutoFit/>
          </a:bodyPr>
          <a:lstStyle/>
          <a:p>
            <a:pPr algn="ctr">
              <a:lnSpc>
                <a:spcPts val="10120"/>
              </a:lnSpc>
            </a:pPr>
            <a:r>
              <a:rPr lang="en-US" sz="4000" dirty="0">
                <a:solidFill>
                  <a:srgbClr val="17022B"/>
                </a:solidFill>
                <a:latin typeface="League Spartan"/>
                <a:ea typeface="League Spartan"/>
                <a:cs typeface="League Spartan"/>
                <a:sym typeface="League Spartan"/>
              </a:rPr>
              <a:t>Supply Chain View</a:t>
            </a:r>
          </a:p>
        </p:txBody>
      </p:sp>
      <p:sp>
        <p:nvSpPr>
          <p:cNvPr id="39" name="TextBox 39">
            <a:extLst>
              <a:ext uri="{FF2B5EF4-FFF2-40B4-BE49-F238E27FC236}">
                <a16:creationId xmlns:a16="http://schemas.microsoft.com/office/drawing/2014/main" id="{AE5B9503-DC92-2650-8357-8ADE63FAD11E}"/>
              </a:ext>
            </a:extLst>
          </p:cNvPr>
          <p:cNvSpPr txBox="1"/>
          <p:nvPr/>
        </p:nvSpPr>
        <p:spPr>
          <a:xfrm>
            <a:off x="2519816" y="4953839"/>
            <a:ext cx="1908555" cy="593867"/>
          </a:xfrm>
          <a:prstGeom prst="rect">
            <a:avLst/>
          </a:prstGeom>
        </p:spPr>
        <p:txBody>
          <a:bodyPr lIns="0" tIns="0" rIns="0" bIns="0" rtlCol="0" anchor="t">
            <a:spAutoFit/>
          </a:bodyPr>
          <a:lstStyle/>
          <a:p>
            <a:pPr marL="0" lvl="0" indent="0" algn="ctr">
              <a:lnSpc>
                <a:spcPts val="2333"/>
              </a:lnSpc>
              <a:spcBef>
                <a:spcPct val="0"/>
              </a:spcBef>
            </a:pPr>
            <a:r>
              <a:rPr lang="en-US" sz="2121">
                <a:solidFill>
                  <a:srgbClr val="FBFAFF"/>
                </a:solidFill>
                <a:latin typeface="League Spartan"/>
                <a:ea typeface="League Spartan"/>
                <a:cs typeface="League Spartan"/>
                <a:sym typeface="League Spartan"/>
              </a:rPr>
              <a:t>WARDIERE </a:t>
            </a:r>
            <a:r>
              <a:rPr lang="en-US" sz="2121" b="1" u="none" strike="noStrike">
                <a:solidFill>
                  <a:srgbClr val="FBFAFF"/>
                </a:solidFill>
                <a:latin typeface="League Spartan"/>
                <a:ea typeface="League Spartan"/>
                <a:cs typeface="League Spartan"/>
                <a:sym typeface="League Spartan"/>
              </a:rPr>
              <a:t>BUSINESS</a:t>
            </a:r>
          </a:p>
        </p:txBody>
      </p:sp>
      <p:sp>
        <p:nvSpPr>
          <p:cNvPr id="40" name="TextBox 40">
            <a:extLst>
              <a:ext uri="{FF2B5EF4-FFF2-40B4-BE49-F238E27FC236}">
                <a16:creationId xmlns:a16="http://schemas.microsoft.com/office/drawing/2014/main" id="{35E54E32-E809-AD12-F644-1B0407CB3D31}"/>
              </a:ext>
            </a:extLst>
          </p:cNvPr>
          <p:cNvSpPr txBox="1"/>
          <p:nvPr/>
        </p:nvSpPr>
        <p:spPr>
          <a:xfrm>
            <a:off x="2519816" y="8104756"/>
            <a:ext cx="1908555" cy="593867"/>
          </a:xfrm>
          <a:prstGeom prst="rect">
            <a:avLst/>
          </a:prstGeom>
        </p:spPr>
        <p:txBody>
          <a:bodyPr lIns="0" tIns="0" rIns="0" bIns="0" rtlCol="0" anchor="t">
            <a:spAutoFit/>
          </a:bodyPr>
          <a:lstStyle/>
          <a:p>
            <a:pPr marL="0" lvl="0" indent="0" algn="ctr">
              <a:lnSpc>
                <a:spcPts val="2333"/>
              </a:lnSpc>
              <a:spcBef>
                <a:spcPct val="0"/>
              </a:spcBef>
            </a:pPr>
            <a:r>
              <a:rPr lang="en-US" sz="2121">
                <a:solidFill>
                  <a:srgbClr val="FBFAFF"/>
                </a:solidFill>
                <a:latin typeface="League Spartan"/>
                <a:ea typeface="League Spartan"/>
                <a:cs typeface="League Spartan"/>
                <a:sym typeface="League Spartan"/>
              </a:rPr>
              <a:t>WARDIERE </a:t>
            </a:r>
            <a:r>
              <a:rPr lang="en-US" sz="2121" b="1" u="none" strike="noStrike">
                <a:solidFill>
                  <a:srgbClr val="FBFAFF"/>
                </a:solidFill>
                <a:latin typeface="League Spartan"/>
                <a:ea typeface="League Spartan"/>
                <a:cs typeface="League Spartan"/>
                <a:sym typeface="League Spartan"/>
              </a:rPr>
              <a:t>BUSINESS</a:t>
            </a:r>
          </a:p>
        </p:txBody>
      </p:sp>
      <p:pic>
        <p:nvPicPr>
          <p:cNvPr id="4" name="Picture 3">
            <a:extLst>
              <a:ext uri="{FF2B5EF4-FFF2-40B4-BE49-F238E27FC236}">
                <a16:creationId xmlns:a16="http://schemas.microsoft.com/office/drawing/2014/main" id="{C56F40B5-0EF7-C722-81E0-EEDF765E12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699882"/>
            <a:ext cx="18211799" cy="9587117"/>
          </a:xfrm>
          <a:prstGeom prst="rect">
            <a:avLst/>
          </a:prstGeom>
        </p:spPr>
      </p:pic>
    </p:spTree>
    <p:extLst>
      <p:ext uri="{BB962C8B-B14F-4D97-AF65-F5344CB8AC3E}">
        <p14:creationId xmlns:p14="http://schemas.microsoft.com/office/powerpoint/2010/main" val="1415599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C096C"/>
        </a:solidFill>
        <a:effectLst/>
      </p:bgPr>
    </p:bg>
    <p:spTree>
      <p:nvGrpSpPr>
        <p:cNvPr id="1" name=""/>
        <p:cNvGrpSpPr/>
        <p:nvPr/>
      </p:nvGrpSpPr>
      <p:grpSpPr>
        <a:xfrm>
          <a:off x="0" y="0"/>
          <a:ext cx="0" cy="0"/>
          <a:chOff x="0" y="0"/>
          <a:chExt cx="0" cy="0"/>
        </a:xfrm>
      </p:grpSpPr>
      <p:sp>
        <p:nvSpPr>
          <p:cNvPr id="2" name="TextBox 2"/>
          <p:cNvSpPr txBox="1"/>
          <p:nvPr/>
        </p:nvSpPr>
        <p:spPr>
          <a:xfrm>
            <a:off x="6781800" y="-419100"/>
            <a:ext cx="3924300" cy="1125308"/>
          </a:xfrm>
          <a:prstGeom prst="rect">
            <a:avLst/>
          </a:prstGeom>
        </p:spPr>
        <p:txBody>
          <a:bodyPr wrap="square" lIns="0" tIns="0" rIns="0" bIns="0" rtlCol="0" anchor="t">
            <a:spAutoFit/>
          </a:bodyPr>
          <a:lstStyle/>
          <a:p>
            <a:pPr algn="ctr">
              <a:lnSpc>
                <a:spcPts val="10120"/>
              </a:lnSpc>
            </a:pPr>
            <a:r>
              <a:rPr lang="en-US" sz="4000" dirty="0">
                <a:solidFill>
                  <a:srgbClr val="FFFFFF"/>
                </a:solidFill>
                <a:latin typeface="League Spartan"/>
                <a:ea typeface="League Spartan"/>
                <a:cs typeface="League Spartan"/>
                <a:sym typeface="League Spartan"/>
              </a:rPr>
              <a:t>Key Insights</a:t>
            </a:r>
          </a:p>
        </p:txBody>
      </p:sp>
      <p:sp>
        <p:nvSpPr>
          <p:cNvPr id="3" name="AutoShape 3"/>
          <p:cNvSpPr/>
          <p:nvPr/>
        </p:nvSpPr>
        <p:spPr>
          <a:xfrm flipV="1">
            <a:off x="609600" y="2888517"/>
            <a:ext cx="0" cy="1806375"/>
          </a:xfrm>
          <a:prstGeom prst="line">
            <a:avLst/>
          </a:prstGeom>
          <a:ln w="19050" cap="rnd">
            <a:solidFill>
              <a:srgbClr val="F72585"/>
            </a:solidFill>
            <a:prstDash val="solid"/>
            <a:headEnd type="none" w="sm" len="sm"/>
            <a:tailEnd type="none" w="sm" len="sm"/>
          </a:ln>
        </p:spPr>
        <p:txBody>
          <a:bodyPr/>
          <a:lstStyle/>
          <a:p>
            <a:endParaRPr lang="en-IN" dirty="0"/>
          </a:p>
        </p:txBody>
      </p:sp>
      <p:sp>
        <p:nvSpPr>
          <p:cNvPr id="4" name="AutoShape 4"/>
          <p:cNvSpPr/>
          <p:nvPr/>
        </p:nvSpPr>
        <p:spPr>
          <a:xfrm flipV="1">
            <a:off x="609600" y="1258109"/>
            <a:ext cx="0" cy="897255"/>
          </a:xfrm>
          <a:prstGeom prst="line">
            <a:avLst/>
          </a:prstGeom>
          <a:ln w="19050" cap="rnd">
            <a:solidFill>
              <a:srgbClr val="F72585"/>
            </a:solidFill>
            <a:prstDash val="solid"/>
            <a:headEnd type="none" w="sm" len="sm"/>
            <a:tailEnd type="none" w="sm" len="sm"/>
          </a:ln>
        </p:spPr>
        <p:txBody>
          <a:bodyPr/>
          <a:lstStyle/>
          <a:p>
            <a:endParaRPr lang="en-IN" dirty="0"/>
          </a:p>
        </p:txBody>
      </p:sp>
      <p:sp>
        <p:nvSpPr>
          <p:cNvPr id="5" name="AutoShape 5"/>
          <p:cNvSpPr/>
          <p:nvPr/>
        </p:nvSpPr>
        <p:spPr>
          <a:xfrm flipV="1">
            <a:off x="629265" y="5511041"/>
            <a:ext cx="0" cy="701697"/>
          </a:xfrm>
          <a:prstGeom prst="line">
            <a:avLst/>
          </a:prstGeom>
          <a:ln w="19050" cap="rnd">
            <a:solidFill>
              <a:srgbClr val="F72585"/>
            </a:solidFill>
            <a:prstDash val="solid"/>
            <a:headEnd type="none" w="sm" len="sm"/>
            <a:tailEnd type="none" w="sm" len="sm"/>
          </a:ln>
        </p:spPr>
        <p:txBody>
          <a:bodyPr/>
          <a:lstStyle/>
          <a:p>
            <a:endParaRPr lang="en-IN" dirty="0"/>
          </a:p>
        </p:txBody>
      </p:sp>
      <p:sp>
        <p:nvSpPr>
          <p:cNvPr id="6" name="AutoShape 6"/>
          <p:cNvSpPr/>
          <p:nvPr/>
        </p:nvSpPr>
        <p:spPr>
          <a:xfrm flipV="1">
            <a:off x="9448800" y="1244867"/>
            <a:ext cx="0" cy="1993632"/>
          </a:xfrm>
          <a:prstGeom prst="line">
            <a:avLst/>
          </a:prstGeom>
          <a:ln w="19050" cap="rnd">
            <a:solidFill>
              <a:srgbClr val="F72585"/>
            </a:solidFill>
            <a:prstDash val="solid"/>
            <a:headEnd type="none" w="sm" len="sm"/>
            <a:tailEnd type="none" w="sm" len="sm"/>
          </a:ln>
        </p:spPr>
      </p:sp>
      <p:sp>
        <p:nvSpPr>
          <p:cNvPr id="7" name="AutoShape 7"/>
          <p:cNvSpPr/>
          <p:nvPr/>
        </p:nvSpPr>
        <p:spPr>
          <a:xfrm flipV="1">
            <a:off x="644014" y="7282720"/>
            <a:ext cx="0" cy="2032750"/>
          </a:xfrm>
          <a:prstGeom prst="line">
            <a:avLst/>
          </a:prstGeom>
          <a:ln w="19050" cap="rnd">
            <a:solidFill>
              <a:srgbClr val="F72585"/>
            </a:solidFill>
            <a:prstDash val="solid"/>
            <a:headEnd type="none" w="sm" len="sm"/>
            <a:tailEnd type="none" w="sm" len="sm"/>
          </a:ln>
        </p:spPr>
        <p:txBody>
          <a:bodyPr/>
          <a:lstStyle/>
          <a:p>
            <a:endParaRPr lang="en-IN" dirty="0"/>
          </a:p>
        </p:txBody>
      </p:sp>
      <p:sp>
        <p:nvSpPr>
          <p:cNvPr id="12" name="TextBox 12"/>
          <p:cNvSpPr txBox="1"/>
          <p:nvPr/>
        </p:nvSpPr>
        <p:spPr>
          <a:xfrm>
            <a:off x="12129458" y="3749809"/>
            <a:ext cx="2909756" cy="432747"/>
          </a:xfrm>
          <a:prstGeom prst="rect">
            <a:avLst/>
          </a:prstGeom>
        </p:spPr>
        <p:txBody>
          <a:bodyPr wrap="square" lIns="0" tIns="0" rIns="0" bIns="0" rtlCol="0" anchor="t">
            <a:spAutoFit/>
          </a:bodyPr>
          <a:lstStyle/>
          <a:p>
            <a:pPr algn="ctr">
              <a:lnSpc>
                <a:spcPts val="3299"/>
              </a:lnSpc>
            </a:pPr>
            <a:r>
              <a:rPr lang="en-US" sz="2999" dirty="0">
                <a:solidFill>
                  <a:srgbClr val="FFFFFF"/>
                </a:solidFill>
                <a:latin typeface="League Spartan"/>
                <a:ea typeface="League Spartan"/>
                <a:cs typeface="League Spartan"/>
                <a:sym typeface="League Spartan"/>
              </a:rPr>
              <a:t>Suggestions </a:t>
            </a:r>
          </a:p>
        </p:txBody>
      </p:sp>
      <p:sp>
        <p:nvSpPr>
          <p:cNvPr id="14" name="TextBox 14"/>
          <p:cNvSpPr txBox="1"/>
          <p:nvPr/>
        </p:nvSpPr>
        <p:spPr>
          <a:xfrm>
            <a:off x="1038224" y="7043944"/>
            <a:ext cx="7402763" cy="2510303"/>
          </a:xfrm>
          <a:prstGeom prst="rect">
            <a:avLst/>
          </a:prstGeom>
        </p:spPr>
        <p:txBody>
          <a:bodyPr wrap="square" lIns="0" tIns="0" rIns="0" bIns="0" rtlCol="0" anchor="t">
            <a:spAutoFit/>
          </a:bodyPr>
          <a:lstStyle/>
          <a:p>
            <a:pPr>
              <a:lnSpc>
                <a:spcPts val="3299"/>
              </a:lnSpc>
            </a:pPr>
            <a:r>
              <a:rPr lang="en-US" sz="2000" dirty="0">
                <a:solidFill>
                  <a:schemeClr val="bg1"/>
                </a:solidFill>
              </a:rPr>
              <a:t>Overall forecast accuracy improved slightly to </a:t>
            </a:r>
            <a:r>
              <a:rPr lang="en-US" sz="2000" b="1" dirty="0">
                <a:solidFill>
                  <a:schemeClr val="bg1"/>
                </a:solidFill>
              </a:rPr>
              <a:t>81.17% (+1.2% YoY)</a:t>
            </a:r>
            <a:r>
              <a:rPr lang="en-US" sz="2000" dirty="0">
                <a:solidFill>
                  <a:schemeClr val="bg1"/>
                </a:solidFill>
              </a:rPr>
              <a:t>, with </a:t>
            </a:r>
            <a:r>
              <a:rPr lang="en-US" sz="2000" b="1" dirty="0">
                <a:solidFill>
                  <a:schemeClr val="bg1"/>
                </a:solidFill>
              </a:rPr>
              <a:t>net error reducing to –3.47M</a:t>
            </a:r>
            <a:r>
              <a:rPr lang="en-US" sz="2000" dirty="0">
                <a:solidFill>
                  <a:schemeClr val="bg1"/>
                </a:solidFill>
              </a:rPr>
              <a:t> and </a:t>
            </a:r>
            <a:r>
              <a:rPr lang="en-US" sz="2000" b="1" dirty="0">
                <a:solidFill>
                  <a:schemeClr val="bg1"/>
                </a:solidFill>
              </a:rPr>
              <a:t>ABS error down 29.46%</a:t>
            </a:r>
            <a:r>
              <a:rPr lang="en-US" sz="2000" dirty="0">
                <a:solidFill>
                  <a:schemeClr val="bg1"/>
                </a:solidFill>
              </a:rPr>
              <a:t>, indicating better demand alignment; however, </a:t>
            </a:r>
            <a:r>
              <a:rPr lang="en-US" sz="2000" b="1" dirty="0">
                <a:solidFill>
                  <a:schemeClr val="bg1"/>
                </a:solidFill>
              </a:rPr>
              <a:t>Peripherals and Storage</a:t>
            </a:r>
            <a:r>
              <a:rPr lang="en-US" sz="2000" dirty="0">
                <a:solidFill>
                  <a:schemeClr val="bg1"/>
                </a:solidFill>
              </a:rPr>
              <a:t> show low accuracy and </a:t>
            </a:r>
            <a:r>
              <a:rPr lang="en-US" sz="2000" b="1" dirty="0">
                <a:solidFill>
                  <a:schemeClr val="bg1"/>
                </a:solidFill>
              </a:rPr>
              <a:t>OOS risk</a:t>
            </a:r>
            <a:r>
              <a:rPr lang="en-US" sz="2000" dirty="0">
                <a:solidFill>
                  <a:schemeClr val="bg1"/>
                </a:solidFill>
              </a:rPr>
              <a:t>, while </a:t>
            </a:r>
            <a:r>
              <a:rPr lang="en-US" sz="2000" b="1" dirty="0">
                <a:solidFill>
                  <a:schemeClr val="bg1"/>
                </a:solidFill>
              </a:rPr>
              <a:t>customers like Boulanger, Chip 7, and Argos</a:t>
            </a:r>
            <a:r>
              <a:rPr lang="en-US" sz="2000" dirty="0">
                <a:solidFill>
                  <a:schemeClr val="bg1"/>
                </a:solidFill>
              </a:rPr>
              <a:t> face high forecast variance, signaling the need for stronger inventory and demand coordination.</a:t>
            </a:r>
            <a:endParaRPr lang="en-US" sz="2000" dirty="0">
              <a:solidFill>
                <a:schemeClr val="bg1"/>
              </a:solidFill>
              <a:latin typeface="League Spartan"/>
              <a:ea typeface="League Spartan"/>
              <a:cs typeface="League Spartan"/>
              <a:sym typeface="League Spartan"/>
            </a:endParaRPr>
          </a:p>
        </p:txBody>
      </p:sp>
      <p:sp>
        <p:nvSpPr>
          <p:cNvPr id="15" name="TextBox 15"/>
          <p:cNvSpPr txBox="1"/>
          <p:nvPr/>
        </p:nvSpPr>
        <p:spPr>
          <a:xfrm>
            <a:off x="1065263" y="1213055"/>
            <a:ext cx="7419975" cy="942309"/>
          </a:xfrm>
          <a:prstGeom prst="rect">
            <a:avLst/>
          </a:prstGeom>
        </p:spPr>
        <p:txBody>
          <a:bodyPr wrap="square" lIns="0" tIns="0" rIns="0" bIns="0" rtlCol="0" anchor="t">
            <a:spAutoFit/>
          </a:bodyPr>
          <a:lstStyle/>
          <a:p>
            <a:pPr lvl="0">
              <a:lnSpc>
                <a:spcPts val="2520"/>
              </a:lnSpc>
            </a:pPr>
            <a:r>
              <a:rPr lang="en-US" sz="2000" dirty="0" err="1">
                <a:solidFill>
                  <a:schemeClr val="bg1"/>
                </a:solidFill>
              </a:rPr>
              <a:t>AtliQ</a:t>
            </a:r>
            <a:r>
              <a:rPr lang="en-US" sz="2000" dirty="0">
                <a:solidFill>
                  <a:schemeClr val="bg1"/>
                </a:solidFill>
              </a:rPr>
              <a:t> </a:t>
            </a:r>
            <a:r>
              <a:rPr lang="en-US" sz="2000" dirty="0" err="1">
                <a:solidFill>
                  <a:schemeClr val="bg1"/>
                </a:solidFill>
              </a:rPr>
              <a:t>Hardwares</a:t>
            </a:r>
            <a:r>
              <a:rPr lang="en-US" sz="2000" dirty="0">
                <a:solidFill>
                  <a:schemeClr val="bg1"/>
                </a:solidFill>
              </a:rPr>
              <a:t> </a:t>
            </a:r>
            <a:r>
              <a:rPr lang="en-US" sz="2000" b="1" dirty="0">
                <a:solidFill>
                  <a:schemeClr val="bg1"/>
                </a:solidFill>
              </a:rPr>
              <a:t>achieved 1.64B </a:t>
            </a:r>
            <a:r>
              <a:rPr lang="en-US" sz="2000" dirty="0">
                <a:solidFill>
                  <a:schemeClr val="bg1"/>
                </a:solidFill>
              </a:rPr>
              <a:t>in Net Sales for 2022, a </a:t>
            </a:r>
            <a:r>
              <a:rPr lang="en-US" sz="2000" b="1" dirty="0">
                <a:solidFill>
                  <a:schemeClr val="bg1"/>
                </a:solidFill>
              </a:rPr>
              <a:t>sharp rise </a:t>
            </a:r>
            <a:r>
              <a:rPr lang="en-US" sz="2000" dirty="0">
                <a:solidFill>
                  <a:schemeClr val="bg1"/>
                </a:solidFill>
              </a:rPr>
              <a:t>from </a:t>
            </a:r>
            <a:r>
              <a:rPr lang="en-US" sz="2000" b="1" dirty="0">
                <a:solidFill>
                  <a:schemeClr val="bg1"/>
                </a:solidFill>
              </a:rPr>
              <a:t>346.81M</a:t>
            </a:r>
            <a:r>
              <a:rPr lang="en-US" sz="2000" dirty="0">
                <a:solidFill>
                  <a:schemeClr val="bg1"/>
                </a:solidFill>
              </a:rPr>
              <a:t> last year, reaching </a:t>
            </a:r>
            <a:r>
              <a:rPr lang="en-US" sz="2000" b="1" dirty="0">
                <a:solidFill>
                  <a:schemeClr val="bg1"/>
                </a:solidFill>
              </a:rPr>
              <a:t>98% of the 1.67B target</a:t>
            </a:r>
            <a:r>
              <a:rPr lang="en-US" sz="2000" dirty="0">
                <a:solidFill>
                  <a:schemeClr val="bg1"/>
                </a:solidFill>
              </a:rPr>
              <a:t> and demonstrating </a:t>
            </a:r>
            <a:r>
              <a:rPr lang="en-US" sz="2000" b="1" dirty="0">
                <a:solidFill>
                  <a:schemeClr val="bg1"/>
                </a:solidFill>
              </a:rPr>
              <a:t>strong sales growth</a:t>
            </a:r>
            <a:r>
              <a:rPr lang="en-US" sz="2000" dirty="0"/>
              <a:t>.</a:t>
            </a:r>
            <a:endParaRPr lang="en-US" sz="2000" spc="90" dirty="0">
              <a:solidFill>
                <a:srgbClr val="FFFFFF"/>
              </a:solidFill>
              <a:latin typeface="Canva Sans"/>
              <a:ea typeface="Canva Sans"/>
              <a:cs typeface="Canva Sans"/>
              <a:sym typeface="Canva Sans"/>
            </a:endParaRPr>
          </a:p>
        </p:txBody>
      </p:sp>
      <p:sp>
        <p:nvSpPr>
          <p:cNvPr id="17" name="TextBox 17"/>
          <p:cNvSpPr txBox="1"/>
          <p:nvPr/>
        </p:nvSpPr>
        <p:spPr>
          <a:xfrm>
            <a:off x="1038224" y="2688723"/>
            <a:ext cx="7429499" cy="2231445"/>
          </a:xfrm>
          <a:prstGeom prst="rect">
            <a:avLst/>
          </a:prstGeom>
        </p:spPr>
        <p:txBody>
          <a:bodyPr wrap="square" lIns="0" tIns="0" rIns="0" bIns="0" rtlCol="0" anchor="t">
            <a:spAutoFit/>
          </a:bodyPr>
          <a:lstStyle/>
          <a:p>
            <a:pPr lvl="0">
              <a:lnSpc>
                <a:spcPts val="2520"/>
              </a:lnSpc>
            </a:pPr>
            <a:r>
              <a:rPr lang="en-US" sz="2000" dirty="0" err="1">
                <a:solidFill>
                  <a:schemeClr val="bg1"/>
                </a:solidFill>
              </a:rPr>
              <a:t>AtliQ</a:t>
            </a:r>
            <a:r>
              <a:rPr lang="en-US" sz="2000" dirty="0">
                <a:solidFill>
                  <a:schemeClr val="bg1"/>
                </a:solidFill>
              </a:rPr>
              <a:t> </a:t>
            </a:r>
            <a:r>
              <a:rPr lang="en-US" sz="2000" dirty="0" err="1">
                <a:solidFill>
                  <a:schemeClr val="bg1"/>
                </a:solidFill>
              </a:rPr>
              <a:t>Hardwares</a:t>
            </a:r>
            <a:r>
              <a:rPr lang="en-US" sz="2000" dirty="0">
                <a:solidFill>
                  <a:schemeClr val="bg1"/>
                </a:solidFill>
              </a:rPr>
              <a:t>’ Net Sales showed strong growth from </a:t>
            </a:r>
            <a:r>
              <a:rPr lang="en-US" sz="2000" b="1" dirty="0">
                <a:solidFill>
                  <a:schemeClr val="bg1"/>
                </a:solidFill>
              </a:rPr>
              <a:t>$111.37M in 2019 to an estimated $3.74B in 2022</a:t>
            </a:r>
            <a:r>
              <a:rPr lang="en-US" sz="2000" dirty="0">
                <a:solidFill>
                  <a:schemeClr val="bg1"/>
                </a:solidFill>
              </a:rPr>
              <a:t>, with benchmark </a:t>
            </a:r>
            <a:r>
              <a:rPr lang="en-US" sz="2000" b="1" dirty="0">
                <a:solidFill>
                  <a:schemeClr val="bg1"/>
                </a:solidFill>
              </a:rPr>
              <a:t>growth rising</a:t>
            </a:r>
            <a:r>
              <a:rPr lang="en-US" sz="2000" dirty="0">
                <a:solidFill>
                  <a:schemeClr val="bg1"/>
                </a:solidFill>
              </a:rPr>
              <a:t> from </a:t>
            </a:r>
            <a:r>
              <a:rPr lang="en-US" sz="2000" b="1" dirty="0">
                <a:solidFill>
                  <a:schemeClr val="bg1"/>
                </a:solidFill>
              </a:rPr>
              <a:t>282.57% to 353.5%. </a:t>
            </a:r>
            <a:r>
              <a:rPr lang="en-US" sz="2000" dirty="0">
                <a:solidFill>
                  <a:schemeClr val="bg1"/>
                </a:solidFill>
              </a:rPr>
              <a:t>However, </a:t>
            </a:r>
            <a:r>
              <a:rPr lang="en-US" sz="2000" b="1" dirty="0">
                <a:solidFill>
                  <a:schemeClr val="bg1"/>
                </a:solidFill>
              </a:rPr>
              <a:t>Net Profit % declined steadily </a:t>
            </a:r>
            <a:r>
              <a:rPr lang="en-US" sz="2000" dirty="0">
                <a:solidFill>
                  <a:schemeClr val="bg1"/>
                </a:solidFill>
              </a:rPr>
              <a:t>from </a:t>
            </a:r>
            <a:r>
              <a:rPr lang="en-US" sz="2000" b="1" dirty="0">
                <a:solidFill>
                  <a:schemeClr val="bg1"/>
                </a:solidFill>
              </a:rPr>
              <a:t>-0.85% in 2020 </a:t>
            </a:r>
            <a:r>
              <a:rPr lang="en-US" sz="2000" dirty="0">
                <a:solidFill>
                  <a:schemeClr val="bg1"/>
                </a:solidFill>
              </a:rPr>
              <a:t>to an </a:t>
            </a:r>
            <a:r>
              <a:rPr lang="en-US" sz="2000" b="1" dirty="0">
                <a:solidFill>
                  <a:schemeClr val="bg1"/>
                </a:solidFill>
              </a:rPr>
              <a:t>estimated -13.98% in 2022</a:t>
            </a:r>
            <a:r>
              <a:rPr lang="en-US" sz="2000" dirty="0">
                <a:solidFill>
                  <a:schemeClr val="bg1"/>
                </a:solidFill>
              </a:rPr>
              <a:t>, while </a:t>
            </a:r>
            <a:r>
              <a:rPr lang="en-US" sz="2000" b="1" dirty="0">
                <a:solidFill>
                  <a:schemeClr val="bg1"/>
                </a:solidFill>
              </a:rPr>
              <a:t>Gross Margin % dropped </a:t>
            </a:r>
            <a:r>
              <a:rPr lang="en-US" sz="2000" dirty="0">
                <a:solidFill>
                  <a:schemeClr val="bg1"/>
                </a:solidFill>
              </a:rPr>
              <a:t>from </a:t>
            </a:r>
            <a:r>
              <a:rPr lang="en-US" sz="2000" b="1" dirty="0">
                <a:solidFill>
                  <a:schemeClr val="bg1"/>
                </a:solidFill>
              </a:rPr>
              <a:t>41.21% in 2019 to 36.49% in 2021</a:t>
            </a:r>
            <a:r>
              <a:rPr lang="en-US" sz="2000" dirty="0">
                <a:solidFill>
                  <a:schemeClr val="bg1"/>
                </a:solidFill>
              </a:rPr>
              <a:t>, before a slight recovery to </a:t>
            </a:r>
            <a:r>
              <a:rPr lang="en-US" sz="2000" b="1" dirty="0">
                <a:solidFill>
                  <a:schemeClr val="bg1"/>
                </a:solidFill>
              </a:rPr>
              <a:t>38.08% in 2022</a:t>
            </a:r>
            <a:r>
              <a:rPr lang="en-US" sz="2000" dirty="0">
                <a:solidFill>
                  <a:schemeClr val="bg1"/>
                </a:solidFill>
              </a:rPr>
              <a:t>, indicating </a:t>
            </a:r>
            <a:r>
              <a:rPr lang="en-US" sz="2000" b="1" dirty="0">
                <a:solidFill>
                  <a:schemeClr val="bg1"/>
                </a:solidFill>
              </a:rPr>
              <a:t>robust</a:t>
            </a:r>
            <a:r>
              <a:rPr lang="en-US" sz="2000" dirty="0">
                <a:solidFill>
                  <a:schemeClr val="bg1"/>
                </a:solidFill>
              </a:rPr>
              <a:t> revenue expansion but </a:t>
            </a:r>
            <a:r>
              <a:rPr lang="en-US" sz="2000" b="1" dirty="0">
                <a:solidFill>
                  <a:schemeClr val="bg1"/>
                </a:solidFill>
              </a:rPr>
              <a:t>increasing cost pressures impacting profitability</a:t>
            </a:r>
            <a:endParaRPr lang="en-US" sz="2000" b="1" spc="90" dirty="0">
              <a:solidFill>
                <a:schemeClr val="bg1"/>
              </a:solidFill>
              <a:latin typeface="Canva Sans"/>
              <a:ea typeface="Canva Sans"/>
              <a:cs typeface="Canva Sans"/>
              <a:sym typeface="Canva Sans"/>
            </a:endParaRPr>
          </a:p>
        </p:txBody>
      </p:sp>
      <p:sp>
        <p:nvSpPr>
          <p:cNvPr id="18" name="TextBox 18"/>
          <p:cNvSpPr txBox="1"/>
          <p:nvPr/>
        </p:nvSpPr>
        <p:spPr>
          <a:xfrm>
            <a:off x="9867905" y="1158084"/>
            <a:ext cx="7543798" cy="2231445"/>
          </a:xfrm>
          <a:prstGeom prst="rect">
            <a:avLst/>
          </a:prstGeom>
        </p:spPr>
        <p:txBody>
          <a:bodyPr wrap="square" lIns="0" tIns="0" rIns="0" bIns="0" rtlCol="0" anchor="t">
            <a:spAutoFit/>
          </a:bodyPr>
          <a:lstStyle/>
          <a:p>
            <a:pPr lvl="0">
              <a:lnSpc>
                <a:spcPts val="2520"/>
              </a:lnSpc>
            </a:pPr>
            <a:r>
              <a:rPr lang="en-US" sz="2000" dirty="0" err="1">
                <a:solidFill>
                  <a:schemeClr val="bg1"/>
                </a:solidFill>
              </a:rPr>
              <a:t>AtliQ</a:t>
            </a:r>
            <a:r>
              <a:rPr lang="en-US" sz="2000" dirty="0">
                <a:solidFill>
                  <a:schemeClr val="bg1"/>
                </a:solidFill>
              </a:rPr>
              <a:t> recorded </a:t>
            </a:r>
            <a:r>
              <a:rPr lang="en-US" sz="2000" b="1" dirty="0">
                <a:solidFill>
                  <a:schemeClr val="bg1"/>
                </a:solidFill>
              </a:rPr>
              <a:t>$3.74B in net sales (+353.5%)</a:t>
            </a:r>
            <a:r>
              <a:rPr lang="en-US" sz="2000" dirty="0">
                <a:solidFill>
                  <a:schemeClr val="bg1"/>
                </a:solidFill>
              </a:rPr>
              <a:t> with improved </a:t>
            </a:r>
            <a:r>
              <a:rPr lang="en-US" sz="2000" b="1" dirty="0">
                <a:solidFill>
                  <a:schemeClr val="bg1"/>
                </a:solidFill>
              </a:rPr>
              <a:t>gross margin (38.08%)</a:t>
            </a:r>
            <a:r>
              <a:rPr lang="en-US" sz="2000" dirty="0">
                <a:solidFill>
                  <a:schemeClr val="bg1"/>
                </a:solidFill>
              </a:rPr>
              <a:t> and </a:t>
            </a:r>
            <a:r>
              <a:rPr lang="en-US" sz="2000" b="1" dirty="0">
                <a:solidFill>
                  <a:schemeClr val="bg1"/>
                </a:solidFill>
              </a:rPr>
              <a:t>forecast accuracy (81.17%)</a:t>
            </a:r>
            <a:r>
              <a:rPr lang="en-US" sz="2000" dirty="0">
                <a:solidFill>
                  <a:schemeClr val="bg1"/>
                </a:solidFill>
              </a:rPr>
              <a:t>, reflecting strong growth and better demand planning. However, </a:t>
            </a:r>
            <a:r>
              <a:rPr lang="en-US" sz="2000" b="1" dirty="0">
                <a:solidFill>
                  <a:schemeClr val="bg1"/>
                </a:solidFill>
              </a:rPr>
              <a:t>net profit declined (–13.98%)</a:t>
            </a:r>
            <a:r>
              <a:rPr lang="en-US" sz="2000" dirty="0">
                <a:solidFill>
                  <a:schemeClr val="bg1"/>
                </a:solidFill>
              </a:rPr>
              <a:t> due to rising costs and pricing pressures, especially in </a:t>
            </a:r>
            <a:r>
              <a:rPr lang="en-US" sz="2000" b="1" dirty="0">
                <a:solidFill>
                  <a:schemeClr val="bg1"/>
                </a:solidFill>
              </a:rPr>
              <a:t>India and North America</a:t>
            </a:r>
            <a:r>
              <a:rPr lang="en-US" sz="2000" dirty="0">
                <a:solidFill>
                  <a:schemeClr val="bg1"/>
                </a:solidFill>
              </a:rPr>
              <a:t>. The company remains </a:t>
            </a:r>
            <a:r>
              <a:rPr lang="en-US" sz="2000" b="1" dirty="0">
                <a:solidFill>
                  <a:schemeClr val="bg1"/>
                </a:solidFill>
              </a:rPr>
              <a:t>retail-driven (71.5%)</a:t>
            </a:r>
            <a:r>
              <a:rPr lang="en-US" sz="2000" dirty="0">
                <a:solidFill>
                  <a:schemeClr val="bg1"/>
                </a:solidFill>
              </a:rPr>
              <a:t>, with </a:t>
            </a:r>
            <a:r>
              <a:rPr lang="en-US" sz="2000" b="1" dirty="0">
                <a:solidFill>
                  <a:schemeClr val="bg1"/>
                </a:solidFill>
              </a:rPr>
              <a:t>OOS risks in ANZ and SE</a:t>
            </a:r>
            <a:r>
              <a:rPr lang="en-US" sz="2000" dirty="0">
                <a:solidFill>
                  <a:schemeClr val="bg1"/>
                </a:solidFill>
              </a:rPr>
              <a:t>, highlighting the need for stronger inventory and cost optimization strategies.</a:t>
            </a:r>
            <a:endParaRPr lang="en-US" sz="2000" spc="90" dirty="0">
              <a:solidFill>
                <a:schemeClr val="bg1"/>
              </a:solidFill>
              <a:latin typeface="Canva Sans"/>
              <a:ea typeface="Canva Sans"/>
              <a:cs typeface="Canva Sans"/>
              <a:sym typeface="Canva Sans"/>
            </a:endParaRPr>
          </a:p>
        </p:txBody>
      </p:sp>
      <p:sp>
        <p:nvSpPr>
          <p:cNvPr id="19" name="TextBox 19"/>
          <p:cNvSpPr txBox="1"/>
          <p:nvPr/>
        </p:nvSpPr>
        <p:spPr>
          <a:xfrm>
            <a:off x="1038228" y="5511041"/>
            <a:ext cx="7429495" cy="942309"/>
          </a:xfrm>
          <a:prstGeom prst="rect">
            <a:avLst/>
          </a:prstGeom>
        </p:spPr>
        <p:txBody>
          <a:bodyPr wrap="square" lIns="0" tIns="0" rIns="0" bIns="0" rtlCol="0" anchor="t">
            <a:spAutoFit/>
          </a:bodyPr>
          <a:lstStyle/>
          <a:p>
            <a:pPr lvl="0">
              <a:lnSpc>
                <a:spcPts val="2520"/>
              </a:lnSpc>
            </a:pPr>
            <a:r>
              <a:rPr lang="en-US" sz="2000" dirty="0">
                <a:solidFill>
                  <a:schemeClr val="bg1"/>
                </a:solidFill>
              </a:rPr>
              <a:t>The </a:t>
            </a:r>
            <a:r>
              <a:rPr lang="en-US" sz="2000" b="1" dirty="0">
                <a:solidFill>
                  <a:schemeClr val="bg1"/>
                </a:solidFill>
              </a:rPr>
              <a:t>LATAM region’s losses</a:t>
            </a:r>
            <a:r>
              <a:rPr lang="en-US" sz="2000" dirty="0">
                <a:solidFill>
                  <a:schemeClr val="bg1"/>
                </a:solidFill>
              </a:rPr>
              <a:t> appear to be primarily driven by </a:t>
            </a:r>
            <a:r>
              <a:rPr lang="en-US" sz="2000" b="1" dirty="0">
                <a:solidFill>
                  <a:schemeClr val="bg1"/>
                </a:solidFill>
              </a:rPr>
              <a:t>rising marketing and operational costs</a:t>
            </a:r>
            <a:r>
              <a:rPr lang="en-US" sz="2000" dirty="0">
                <a:solidFill>
                  <a:schemeClr val="bg1"/>
                </a:solidFill>
              </a:rPr>
              <a:t>, which have significantly impacted profitability. </a:t>
            </a:r>
            <a:endParaRPr lang="en-US" sz="2000" spc="90" dirty="0">
              <a:solidFill>
                <a:schemeClr val="bg1"/>
              </a:solidFill>
              <a:latin typeface="Canva Sans"/>
              <a:ea typeface="Canva Sans"/>
              <a:cs typeface="Canva Sans"/>
              <a:sym typeface="Canva Sans"/>
            </a:endParaRPr>
          </a:p>
        </p:txBody>
      </p:sp>
      <p:sp>
        <p:nvSpPr>
          <p:cNvPr id="20" name="TextBox 20"/>
          <p:cNvSpPr txBox="1"/>
          <p:nvPr/>
        </p:nvSpPr>
        <p:spPr>
          <a:xfrm>
            <a:off x="9852234" y="4500105"/>
            <a:ext cx="7543798" cy="308161"/>
          </a:xfrm>
          <a:prstGeom prst="rect">
            <a:avLst/>
          </a:prstGeom>
        </p:spPr>
        <p:txBody>
          <a:bodyPr wrap="square" lIns="0" tIns="0" rIns="0" bIns="0" rtlCol="0" anchor="t">
            <a:spAutoFit/>
          </a:bodyPr>
          <a:lstStyle/>
          <a:p>
            <a:pPr lvl="0">
              <a:lnSpc>
                <a:spcPts val="2520"/>
              </a:lnSpc>
            </a:pPr>
            <a:r>
              <a:rPr lang="en-US" sz="2000" dirty="0">
                <a:solidFill>
                  <a:schemeClr val="bg1"/>
                </a:solidFill>
              </a:rPr>
              <a:t> Optimize </a:t>
            </a:r>
            <a:r>
              <a:rPr lang="en-US" sz="2000" b="1" dirty="0">
                <a:solidFill>
                  <a:schemeClr val="bg1"/>
                </a:solidFill>
              </a:rPr>
              <a:t>marketing and operating expenses</a:t>
            </a:r>
            <a:r>
              <a:rPr lang="en-US" sz="2000" dirty="0">
                <a:solidFill>
                  <a:schemeClr val="bg1"/>
                </a:solidFill>
              </a:rPr>
              <a:t> to improve profitability</a:t>
            </a:r>
            <a:r>
              <a:rPr lang="en-US" dirty="0"/>
              <a:t>.</a:t>
            </a:r>
            <a:endParaRPr lang="en-US" sz="1800" spc="90" dirty="0">
              <a:solidFill>
                <a:srgbClr val="FFFFFF"/>
              </a:solidFill>
              <a:latin typeface="Canva Sans"/>
              <a:ea typeface="Canva Sans"/>
              <a:cs typeface="Canva Sans"/>
              <a:sym typeface="Canva Sans"/>
            </a:endParaRPr>
          </a:p>
        </p:txBody>
      </p:sp>
      <p:sp>
        <p:nvSpPr>
          <p:cNvPr id="28" name="Rectangle 4">
            <a:extLst>
              <a:ext uri="{FF2B5EF4-FFF2-40B4-BE49-F238E27FC236}">
                <a16:creationId xmlns:a16="http://schemas.microsoft.com/office/drawing/2014/main" id="{38A2CAAF-5F06-843C-0B55-2400EAD8C1AB}"/>
              </a:ext>
            </a:extLst>
          </p:cNvPr>
          <p:cNvSpPr>
            <a:spLocks noChangeArrowheads="1"/>
          </p:cNvSpPr>
          <p:nvPr/>
        </p:nvSpPr>
        <p:spPr bwMode="auto">
          <a:xfrm>
            <a:off x="9787856" y="4939717"/>
            <a:ext cx="807335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Arial" panose="020B0604020202020204" pitchFamily="34" charset="0"/>
              </a:rPr>
              <a:t>Increase focus on </a:t>
            </a:r>
            <a:r>
              <a:rPr kumimoji="0" lang="en-US" altLang="en-US" sz="2000" b="1" i="0" u="none" strike="noStrike" cap="none" normalizeH="0" baseline="0" dirty="0">
                <a:ln>
                  <a:noFill/>
                </a:ln>
                <a:solidFill>
                  <a:schemeClr val="bg1"/>
                </a:solidFill>
                <a:effectLst/>
                <a:latin typeface="Arial" panose="020B0604020202020204" pitchFamily="34" charset="0"/>
              </a:rPr>
              <a:t>underperforming regions (LATAM, SE)</a:t>
            </a:r>
            <a:r>
              <a:rPr kumimoji="0" lang="en-US" altLang="en-US" sz="2000" b="0" i="0" u="none" strike="noStrike" cap="none" normalizeH="0" baseline="0" dirty="0">
                <a:ln>
                  <a:noFill/>
                </a:ln>
                <a:solidFill>
                  <a:schemeClr val="bg1"/>
                </a:solidFill>
                <a:effectLst/>
                <a:latin typeface="Arial" panose="020B0604020202020204" pitchFamily="34" charset="0"/>
              </a:rPr>
              <a:t> through tailored sales strategies.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Arial" panose="020B0604020202020204" pitchFamily="34" charset="0"/>
              </a:rPr>
              <a:t>Implement </a:t>
            </a:r>
            <a:r>
              <a:rPr kumimoji="0" lang="en-US" altLang="en-US" sz="2000" b="1" i="0" u="none" strike="noStrike" cap="none" normalizeH="0" baseline="0" dirty="0">
                <a:ln>
                  <a:noFill/>
                </a:ln>
                <a:solidFill>
                  <a:schemeClr val="bg1"/>
                </a:solidFill>
                <a:effectLst/>
                <a:latin typeface="Arial" panose="020B0604020202020204" pitchFamily="34" charset="0"/>
              </a:rPr>
              <a:t>dynamic pricing models</a:t>
            </a:r>
            <a:r>
              <a:rPr kumimoji="0" lang="en-US" altLang="en-US" sz="2000" b="0" i="0" u="none" strike="noStrike" cap="none" normalizeH="0" baseline="0" dirty="0">
                <a:ln>
                  <a:noFill/>
                </a:ln>
                <a:solidFill>
                  <a:schemeClr val="bg1"/>
                </a:solidFill>
                <a:effectLst/>
                <a:latin typeface="Arial" panose="020B0604020202020204" pitchFamily="34" charset="0"/>
              </a:rPr>
              <a:t> to balance growth and profit margins.</a:t>
            </a:r>
          </a:p>
        </p:txBody>
      </p:sp>
      <p:sp>
        <p:nvSpPr>
          <p:cNvPr id="30" name="TextBox 20">
            <a:extLst>
              <a:ext uri="{FF2B5EF4-FFF2-40B4-BE49-F238E27FC236}">
                <a16:creationId xmlns:a16="http://schemas.microsoft.com/office/drawing/2014/main" id="{3B65163D-D506-60C1-72ED-83375740D4AC}"/>
              </a:ext>
            </a:extLst>
          </p:cNvPr>
          <p:cNvSpPr txBox="1"/>
          <p:nvPr/>
        </p:nvSpPr>
        <p:spPr>
          <a:xfrm>
            <a:off x="9812437" y="7148784"/>
            <a:ext cx="7543798" cy="308161"/>
          </a:xfrm>
          <a:prstGeom prst="rect">
            <a:avLst/>
          </a:prstGeom>
        </p:spPr>
        <p:txBody>
          <a:bodyPr wrap="square" lIns="0" tIns="0" rIns="0" bIns="0" rtlCol="0" anchor="t">
            <a:spAutoFit/>
          </a:bodyPr>
          <a:lstStyle/>
          <a:p>
            <a:pPr lvl="0">
              <a:lnSpc>
                <a:spcPts val="2520"/>
              </a:lnSpc>
            </a:pPr>
            <a:r>
              <a:rPr lang="en-US" sz="2000" dirty="0">
                <a:solidFill>
                  <a:schemeClr val="bg1"/>
                </a:solidFill>
              </a:rPr>
              <a:t> </a:t>
            </a:r>
            <a:r>
              <a:rPr lang="en-US" dirty="0"/>
              <a:t>.</a:t>
            </a:r>
            <a:endParaRPr lang="en-US" sz="1800" spc="90" dirty="0">
              <a:solidFill>
                <a:srgbClr val="FFFFFF"/>
              </a:solidFill>
              <a:latin typeface="Canva Sans"/>
              <a:ea typeface="Canva Sans"/>
              <a:cs typeface="Canva Sans"/>
              <a:sym typeface="Canva Sans"/>
            </a:endParaRPr>
          </a:p>
        </p:txBody>
      </p:sp>
      <p:sp>
        <p:nvSpPr>
          <p:cNvPr id="31" name="Rectangle 5">
            <a:extLst>
              <a:ext uri="{FF2B5EF4-FFF2-40B4-BE49-F238E27FC236}">
                <a16:creationId xmlns:a16="http://schemas.microsoft.com/office/drawing/2014/main" id="{C05CE2D6-06BB-70AE-00AF-A29AD270C295}"/>
              </a:ext>
            </a:extLst>
          </p:cNvPr>
          <p:cNvSpPr>
            <a:spLocks noChangeArrowheads="1"/>
          </p:cNvSpPr>
          <p:nvPr/>
        </p:nvSpPr>
        <p:spPr bwMode="auto">
          <a:xfrm>
            <a:off x="9847015" y="6667879"/>
            <a:ext cx="775503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Arial" panose="020B0604020202020204" pitchFamily="34" charset="0"/>
              </a:rPr>
              <a:t>Reallocate budget toward </a:t>
            </a:r>
            <a:r>
              <a:rPr kumimoji="0" lang="en-US" altLang="en-US" sz="2000" b="1" i="0" u="none" strike="noStrike" cap="none" normalizeH="0" baseline="0" dirty="0">
                <a:ln>
                  <a:noFill/>
                </a:ln>
                <a:solidFill>
                  <a:schemeClr val="bg1"/>
                </a:solidFill>
                <a:effectLst/>
                <a:latin typeface="Arial" panose="020B0604020202020204" pitchFamily="34" charset="0"/>
              </a:rPr>
              <a:t>high-performing channels</a:t>
            </a:r>
            <a:r>
              <a:rPr kumimoji="0" lang="en-US" altLang="en-US" sz="2000" b="0" i="0" u="none" strike="noStrike" cap="none" normalizeH="0" baseline="0" dirty="0">
                <a:ln>
                  <a:noFill/>
                </a:ln>
                <a:solidFill>
                  <a:schemeClr val="bg1"/>
                </a:solidFill>
                <a:effectLst/>
                <a:latin typeface="Arial" panose="020B0604020202020204" pitchFamily="34" charset="0"/>
              </a:rPr>
              <a:t> and markets with measurable conversion rates.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Arial" panose="020B0604020202020204" pitchFamily="34" charset="0"/>
              </a:rPr>
              <a:t>Leverage </a:t>
            </a:r>
            <a:r>
              <a:rPr kumimoji="0" lang="en-US" altLang="en-US" sz="2000" b="1" i="0" u="none" strike="noStrike" cap="none" normalizeH="0" baseline="0" dirty="0">
                <a:ln>
                  <a:noFill/>
                </a:ln>
                <a:solidFill>
                  <a:schemeClr val="bg1"/>
                </a:solidFill>
                <a:effectLst/>
                <a:latin typeface="Arial" panose="020B0604020202020204" pitchFamily="34" charset="0"/>
              </a:rPr>
              <a:t>data-driven marketing analytics</a:t>
            </a:r>
            <a:r>
              <a:rPr kumimoji="0" lang="en-US" altLang="en-US" sz="2000" b="0" i="0" u="none" strike="noStrike" cap="none" normalizeH="0" baseline="0" dirty="0">
                <a:ln>
                  <a:noFill/>
                </a:ln>
                <a:solidFill>
                  <a:schemeClr val="bg1"/>
                </a:solidFill>
                <a:effectLst/>
                <a:latin typeface="Arial" panose="020B0604020202020204" pitchFamily="34" charset="0"/>
              </a:rPr>
              <a:t> to evaluate ROI per campaign.</a:t>
            </a:r>
          </a:p>
        </p:txBody>
      </p:sp>
      <p:sp>
        <p:nvSpPr>
          <p:cNvPr id="36" name="TextBox 20">
            <a:extLst>
              <a:ext uri="{FF2B5EF4-FFF2-40B4-BE49-F238E27FC236}">
                <a16:creationId xmlns:a16="http://schemas.microsoft.com/office/drawing/2014/main" id="{5FC42969-6F76-E765-72FB-F63CE2B81413}"/>
              </a:ext>
            </a:extLst>
          </p:cNvPr>
          <p:cNvSpPr txBox="1"/>
          <p:nvPr/>
        </p:nvSpPr>
        <p:spPr>
          <a:xfrm flipV="1">
            <a:off x="18763161" y="17710107"/>
            <a:ext cx="3991926" cy="307841"/>
          </a:xfrm>
          <a:prstGeom prst="rect">
            <a:avLst/>
          </a:prstGeom>
        </p:spPr>
        <p:txBody>
          <a:bodyPr wrap="square" lIns="0" tIns="0" rIns="0" bIns="0" rtlCol="0" anchor="t">
            <a:spAutoFit/>
          </a:bodyPr>
          <a:lstStyle/>
          <a:p>
            <a:pPr lvl="0">
              <a:lnSpc>
                <a:spcPts val="2520"/>
              </a:lnSpc>
            </a:pPr>
            <a:r>
              <a:rPr lang="en-US" sz="2000" dirty="0">
                <a:solidFill>
                  <a:schemeClr val="bg1"/>
                </a:solidFill>
              </a:rPr>
              <a:t> </a:t>
            </a:r>
            <a:endParaRPr lang="en-US" sz="1800" spc="90" dirty="0">
              <a:solidFill>
                <a:srgbClr val="FFFFFF"/>
              </a:solidFill>
              <a:latin typeface="Canva Sans"/>
              <a:ea typeface="Canva Sans"/>
              <a:cs typeface="Canva Sans"/>
              <a:sym typeface="Canva Sans"/>
            </a:endParaRPr>
          </a:p>
        </p:txBody>
      </p:sp>
      <p:sp>
        <p:nvSpPr>
          <p:cNvPr id="37" name="Rectangle 9">
            <a:extLst>
              <a:ext uri="{FF2B5EF4-FFF2-40B4-BE49-F238E27FC236}">
                <a16:creationId xmlns:a16="http://schemas.microsoft.com/office/drawing/2014/main" id="{C00B0ED8-7ED3-E31E-EF43-32FD6E321982}"/>
              </a:ext>
            </a:extLst>
          </p:cNvPr>
          <p:cNvSpPr>
            <a:spLocks noChangeArrowheads="1"/>
          </p:cNvSpPr>
          <p:nvPr/>
        </p:nvSpPr>
        <p:spPr bwMode="auto">
          <a:xfrm>
            <a:off x="9867905" y="8438188"/>
            <a:ext cx="801574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Arial" panose="020B0604020202020204" pitchFamily="34" charset="0"/>
              </a:rPr>
              <a:t>Improve </a:t>
            </a:r>
            <a:r>
              <a:rPr kumimoji="0" lang="en-US" altLang="en-US" sz="2000" b="1" i="0" u="none" strike="noStrike" cap="none" normalizeH="0" baseline="0" dirty="0">
                <a:ln>
                  <a:noFill/>
                </a:ln>
                <a:solidFill>
                  <a:schemeClr val="bg1"/>
                </a:solidFill>
                <a:effectLst/>
                <a:latin typeface="Arial" panose="020B0604020202020204" pitchFamily="34" charset="0"/>
              </a:rPr>
              <a:t>demand forecasting models</a:t>
            </a:r>
            <a:r>
              <a:rPr kumimoji="0" lang="en-US" altLang="en-US" sz="2000" b="0" i="0" u="none" strike="noStrike" cap="none" normalizeH="0" baseline="0" dirty="0">
                <a:ln>
                  <a:noFill/>
                </a:ln>
                <a:solidFill>
                  <a:schemeClr val="bg1"/>
                </a:solidFill>
                <a:effectLst/>
                <a:latin typeface="Arial" panose="020B0604020202020204" pitchFamily="34" charset="0"/>
              </a:rPr>
              <a:t> using real-time sales data and historical trends.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Arial" panose="020B0604020202020204" pitchFamily="34" charset="0"/>
              </a:rPr>
              <a:t>Strengthen </a:t>
            </a:r>
            <a:r>
              <a:rPr kumimoji="0" lang="en-US" altLang="en-US" sz="2000" b="1" i="0" u="none" strike="noStrike" cap="none" normalizeH="0" baseline="0" dirty="0">
                <a:ln>
                  <a:noFill/>
                </a:ln>
                <a:solidFill>
                  <a:schemeClr val="bg1"/>
                </a:solidFill>
                <a:effectLst/>
                <a:latin typeface="Arial" panose="020B0604020202020204" pitchFamily="34" charset="0"/>
              </a:rPr>
              <a:t>inventory planning</a:t>
            </a:r>
            <a:r>
              <a:rPr kumimoji="0" lang="en-US" altLang="en-US" sz="2000" b="0" i="0" u="none" strike="noStrike" cap="none" normalizeH="0" baseline="0" dirty="0">
                <a:ln>
                  <a:noFill/>
                </a:ln>
                <a:solidFill>
                  <a:schemeClr val="bg1"/>
                </a:solidFill>
                <a:effectLst/>
                <a:latin typeface="Arial" panose="020B0604020202020204" pitchFamily="34" charset="0"/>
              </a:rPr>
              <a:t> to reduce OOS and overstock situations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C096C"/>
        </a:solidFill>
        <a:effectLst/>
      </p:bgPr>
    </p:bg>
    <p:spTree>
      <p:nvGrpSpPr>
        <p:cNvPr id="1" name=""/>
        <p:cNvGrpSpPr/>
        <p:nvPr/>
      </p:nvGrpSpPr>
      <p:grpSpPr>
        <a:xfrm>
          <a:off x="0" y="0"/>
          <a:ext cx="0" cy="0"/>
          <a:chOff x="0" y="0"/>
          <a:chExt cx="0" cy="0"/>
        </a:xfrm>
      </p:grpSpPr>
      <p:sp>
        <p:nvSpPr>
          <p:cNvPr id="5" name="TextBox 5"/>
          <p:cNvSpPr txBox="1"/>
          <p:nvPr/>
        </p:nvSpPr>
        <p:spPr>
          <a:xfrm>
            <a:off x="-430443" y="10168067"/>
            <a:ext cx="19315313" cy="787081"/>
          </a:xfrm>
          <a:prstGeom prst="rect">
            <a:avLst/>
          </a:prstGeom>
        </p:spPr>
        <p:txBody>
          <a:bodyPr lIns="50800" tIns="50800" rIns="50800" bIns="50800" rtlCol="0" anchor="ctr"/>
          <a:lstStyle/>
          <a:p>
            <a:pPr algn="ctr">
              <a:lnSpc>
                <a:spcPts val="2640"/>
              </a:lnSpc>
            </a:pPr>
            <a:endParaRPr/>
          </a:p>
        </p:txBody>
      </p:sp>
      <p:sp>
        <p:nvSpPr>
          <p:cNvPr id="6" name="TextBox 6"/>
          <p:cNvSpPr txBox="1"/>
          <p:nvPr/>
        </p:nvSpPr>
        <p:spPr>
          <a:xfrm>
            <a:off x="6867710" y="3976157"/>
            <a:ext cx="6620619" cy="1325363"/>
          </a:xfrm>
          <a:prstGeom prst="rect">
            <a:avLst/>
          </a:prstGeom>
        </p:spPr>
        <p:txBody>
          <a:bodyPr lIns="0" tIns="0" rIns="0" bIns="0" rtlCol="0" anchor="t">
            <a:spAutoFit/>
          </a:bodyPr>
          <a:lstStyle/>
          <a:p>
            <a:pPr algn="l">
              <a:lnSpc>
                <a:spcPts val="10120"/>
              </a:lnSpc>
            </a:pPr>
            <a:endParaRPr lang="en-US" sz="9200" dirty="0">
              <a:solidFill>
                <a:srgbClr val="FBFAFF"/>
              </a:solidFill>
              <a:latin typeface="League Spartan"/>
              <a:ea typeface="League Spartan"/>
              <a:cs typeface="League Spartan"/>
              <a:sym typeface="League Spartan"/>
            </a:endParaRPr>
          </a:p>
        </p:txBody>
      </p:sp>
      <p:sp>
        <p:nvSpPr>
          <p:cNvPr id="10" name="TextBox 10"/>
          <p:cNvSpPr txBox="1"/>
          <p:nvPr/>
        </p:nvSpPr>
        <p:spPr>
          <a:xfrm>
            <a:off x="6400800" y="5143500"/>
            <a:ext cx="6620619" cy="478849"/>
          </a:xfrm>
          <a:prstGeom prst="rect">
            <a:avLst/>
          </a:prstGeom>
        </p:spPr>
        <p:txBody>
          <a:bodyPr wrap="square" lIns="0" tIns="0" rIns="0" bIns="0" rtlCol="0" anchor="t">
            <a:spAutoFit/>
          </a:bodyPr>
          <a:lstStyle/>
          <a:p>
            <a:pPr marL="0" lvl="0" indent="0" algn="l">
              <a:lnSpc>
                <a:spcPts val="2520"/>
              </a:lnSpc>
            </a:pPr>
            <a:r>
              <a:rPr lang="en-US" sz="7200" spc="90" dirty="0">
                <a:solidFill>
                  <a:srgbClr val="FBFAFF"/>
                </a:solidFill>
                <a:latin typeface="Canva Sans"/>
                <a:ea typeface="Canva Sans"/>
                <a:cs typeface="Canva Sans"/>
                <a:sym typeface="Canva Sans"/>
              </a:rPr>
              <a:t>Thank You</a:t>
            </a:r>
          </a:p>
        </p:txBody>
      </p:sp>
      <p:sp>
        <p:nvSpPr>
          <p:cNvPr id="11" name="TextBox 11"/>
          <p:cNvSpPr txBox="1"/>
          <p:nvPr/>
        </p:nvSpPr>
        <p:spPr>
          <a:xfrm>
            <a:off x="13915108" y="8295114"/>
            <a:ext cx="3945218" cy="297180"/>
          </a:xfrm>
          <a:prstGeom prst="rect">
            <a:avLst/>
          </a:prstGeom>
        </p:spPr>
        <p:txBody>
          <a:bodyPr lIns="0" tIns="0" rIns="0" bIns="0" rtlCol="0" anchor="t">
            <a:spAutoFit/>
          </a:bodyPr>
          <a:lstStyle/>
          <a:p>
            <a:pPr marL="0" lvl="0" indent="0" algn="ctr">
              <a:lnSpc>
                <a:spcPts val="2520"/>
              </a:lnSpc>
            </a:pPr>
            <a:r>
              <a:rPr lang="en-US" spc="90" dirty="0">
                <a:solidFill>
                  <a:srgbClr val="FBFAFF"/>
                </a:solidFill>
                <a:latin typeface="Canva Sans"/>
                <a:ea typeface="Canva Sans"/>
                <a:cs typeface="Canva Sans"/>
                <a:sym typeface="Canva Sans"/>
              </a:rPr>
              <a:t>navinrapelli4@gmail.com</a:t>
            </a:r>
            <a:endParaRPr lang="en-US" sz="1800" spc="90" dirty="0">
              <a:solidFill>
                <a:srgbClr val="FBFAFF"/>
              </a:solidFill>
              <a:latin typeface="Canva Sans"/>
              <a:ea typeface="Canva Sans"/>
              <a:cs typeface="Canva Sans"/>
              <a:sym typeface="Canva Sans"/>
            </a:endParaRPr>
          </a:p>
        </p:txBody>
      </p:sp>
      <p:pic>
        <p:nvPicPr>
          <p:cNvPr id="13" name="Picture 12">
            <a:extLst>
              <a:ext uri="{FF2B5EF4-FFF2-40B4-BE49-F238E27FC236}">
                <a16:creationId xmlns:a16="http://schemas.microsoft.com/office/drawing/2014/main" id="{2ACFFD4A-C8A1-5325-61CC-843010287D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88329" y="8197959"/>
            <a:ext cx="580108" cy="4914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692</TotalTime>
  <Words>702</Words>
  <Application>Microsoft Office PowerPoint</Application>
  <PresentationFormat>Custom</PresentationFormat>
  <Paragraphs>76</Paragraphs>
  <Slides>13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Calibri</vt:lpstr>
      <vt:lpstr>League Spartan</vt:lpstr>
      <vt:lpstr>Canva Sans Bold</vt:lpstr>
      <vt:lpstr>Canva Sans</vt:lpstr>
      <vt:lpstr>Arial</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Hardwares</dc:title>
  <dc:creator>NAVIN</dc:creator>
  <cp:lastModifiedBy>NAVIN RAPELLI</cp:lastModifiedBy>
  <cp:revision>14</cp:revision>
  <dcterms:created xsi:type="dcterms:W3CDTF">2006-08-16T00:00:00Z</dcterms:created>
  <dcterms:modified xsi:type="dcterms:W3CDTF">2025-11-13T03:06:11Z</dcterms:modified>
  <dc:identifier>DAG4BRxc0Vg</dc:identifier>
</cp:coreProperties>
</file>